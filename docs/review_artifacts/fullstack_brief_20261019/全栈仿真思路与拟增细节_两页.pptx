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2.xml" ContentType="application/vnd.openxmlformats-officedocument.presentationml.notesSlide+xml"/>
</Types>
</file>

<file path=_rels/.rels><?xml version='1.0' encoding='utf-8'?>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firstSlideNum="1" showSpecialPlsOnTitleSld="0">
  <p:sldMasterIdLst>
    <p:sldMasterId id="2147483648" r:id="rId1"/>
  </p:sldMasterIdLst>
  <p:notesMasterIdLst>
    <p:notesMasterId r:id="rId4"/>
  </p:notesMasterIdLst>
  <p:sldIdLst>
    <p:sldId id="6995" r:id="rId2"/>
    <p:sldId id="6997" r:id="rId3"/>
  </p:sldIdLst>
  <p:sldSz cx="12192000" cy="6858000"/>
  <p:notesSz cx="6858000" cy="9144000"/>
  <p:custDataLst>
    <p:tags r:id="rId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ns3:sldGuideLst/>
    </p:ext>
    <p:ext uri="{2D200454-40CA-4A62-9FC3-DE9A4176ACB9}">
      <ns3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69B"/>
    <a:srgbClr val="A2D16E"/>
    <a:srgbClr val="90D14D"/>
    <a:srgbClr val="F69240"/>
    <a:srgbClr val="4F81BD"/>
    <a:srgbClr val="E0FFE0"/>
    <a:srgbClr val="EFDFFF"/>
    <a:srgbClr val="2DCF2D"/>
    <a:srgbClr val="00008C"/>
    <a:srgbClr val="5D7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5068" autoAdjust="0"/>
  </p:normalViewPr>
  <p:slideViewPr>
    <p:cSldViewPr>
      <p:cViewPr varScale="1">
        <p:scale>
          <a:sx n="101" d="100"/>
          <a:sy n="101" d="100"/>
        </p:scale>
        <p:origin x="208" y="520"/>
      </p:cViewPr>
      <p:guideLst/>
    </p:cSldViewPr>
  </p:slideViewPr>
  <p:outlineViewPr>
    <p:cViewPr>
      <p:scale>
        <a:sx n="33" d="100"/>
        <a:sy n="33" d="100"/>
      </p:scale>
      <p:origin x="0" y="-7752"/>
    </p:cViewPr>
  </p:outlineViewPr>
  <p:notesTextViewPr>
    <p:cViewPr>
      <p:scale>
        <a:sx n="70" d="100"/>
        <a:sy n="70" d="100"/>
      </p:scale>
      <p:origin x="0" y="0"/>
    </p:cViewPr>
  </p:notesTextViewPr>
  <p:sorterViewPr>
    <p:cViewPr>
      <p:scale>
        <a:sx n="152" d="100"/>
        <a:sy n="152" d="100"/>
      </p:scale>
      <p:origin x="0" y="-14742"/>
    </p:cViewPr>
  </p:sorterViewPr>
  <p:notesViewPr>
    <p:cSldViewPr>
      <p:cViewPr varScale="1">
        <p:scale>
          <a:sx n="118" d="100"/>
          <a:sy n="118" d="100"/>
        </p:scale>
        <p:origin x="39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873B2F6-9174-41D7-ADC5-585042B0CCC8}" type="datetimeFigureOut">
              <a:rPr lang="zh-CN" altLang="en-US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38737F4-E6B8-436E-A31D-D4AB5CC2059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第一页：全栈仿真——让网络等待回到推理服务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我们的目标，是解释MoE推理中的跨服务器通信为什么会拖慢生成，并比较在相同资源下，怎样的部署和通信方式更合适。研究重点是网络：token被送到哪些专家，这些专家放在哪些GPU上，通信又经过哪个NIC和交换机出口，最后怎样影响本轮以及下一轮Decode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这里说的“全栈”，是把请求调度、计算与通信任务、网络传输和服务反馈连接起来。它并不意味着已经模拟了GPU每个时钟周期，也不意味着已经覆盖训练、Prefill和所有推理模型。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这条链路分成五步。第一步，由LLMServingSim根据请求、batch和KV状态选出本轮任务，并读取相应请求在当前层、当前Decode位置的专家选择。第二步，结合专家放置，把这些选择变成明确的计算、发送和接收任务，算清每个GPU对之间的通信字节。第三步，用Chakra保存依赖，由ASTRA在前驱完成后执行任务。第四步，将跨机消息交给独立的原生RDMA ns-3后端，在同一持续网络里模拟发送、路由、交换机排队和流控；同机通信使用共享同一时钟的简化织构。第五步，将实际完成反馈上去：接收数据就绪后，后续计算才能继续；整轮完成后，前端才能推进请求、决定下一轮组批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因此，我们输入的是带依赖的任务，而不是预先写死开始和结束时间的数据包表。多个推理副本共享同一网络状态，可以互相争用资源。网络慢了，会改变后面的计算和服务进度。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目前，四份真实R1路由已经完成4卡、两台服务器、两个Pod、两层两步的接入核验；完整结构Qwen基准中，128卡单EP和256、512卡多EP4副本已有完成证据。这几套实验的任务并不相同，不能拿完成时间直接计算扩卡加速比。千卡两次均在600秒预算处超时，还没有完整验收；计算也仍使用声明成本，GPU标签不能当作A100或H100的实机校准结果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1</a:t>
            </a:r>
            <a:endParaRPr lang="zh-CN"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第二页：拟增加细节——从流量热点走向网络机制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接下来，我们不打算平均地扩展所有功能，而是围绕一个问题增加必要细节：真实专家偏好和物理部署，在什么条件下会形成跨机网络的关键等待，怎样在不增加总资源的情况下减少这些等待。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一类细节是路由与通信组织。现在已经能保留真实专家选择，并生成GPU对通信矩阵；接下来需要扩展来源明确的请求样本，保留热点持续性和专家共选关系，同时研究目的GPU或节点去重，以及“机内汇聚、跨机交换、机内分发”的分层通信。必须把打包、转发、合并和缓冲代价一起计入，不能只计算减少的跨机字节。热门专家也不必然形成网络拥塞：如果它就在请求本卡，跨机流量可能反而更少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二类细节是物理连接与分层容量。我们已有Clos、Agg、rail和平面的参数化输入；下一步需要补清多GPU共享NIC、GPU与NIC亲和、跨rail中继和实际分流机制，分别检查ToR、Agg和Core出口。比较单平面、多平面或不同拓扑时，要固定总带宽并记录交换端口等资源，避免把多加硬件带来的收益算成算法收益。现有小例中，双平面并没有自动更快，这正说明需要看实际消息和路径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三类细节是协议等待与跨层归因。现有网络已经有数据就绪、ACK完成和队列摘要，但摘要不能说明一段等待如何持续。我们想为选定端口增加有界的队列时序，并关联PFC暂停、ECN拥塞标记、拥塞控制反馈，以及计算的真实前驱。最终要判断慢在端侧发送、交换机排队还是确认反馈，哪些等待真正推迟了服务，而不是把所有等待简单相加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第四类细节是校准与规模效率。需要在匹配的A100或H100、软件和消息形状下采集计算及通信数据，再检查留出负载中的预测误差；同时拆分构图、ASTRA执行、逐包事件和写出成本，在保留网络争用语义的前提下改善仿真效率，最后重新验收千卡。</a:t>
            </a:r>
            <a:endParaRPr lang="zh-CN" sz="120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验证顺序是：先在小图比较真实路由、保留频率的顺序打乱和均匀控制，再做等容量专家放置及固定带宽对照；确认网络机制后，选择专家放置或分层通信中的一种方法，完成硬件校准和代表性规模验证。最后希望形成的成果，是有明确适用边界的网络方法、可复核论文和可重复使用的实验基准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  <a:endParaRPr lang="zh-CN" sz="10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29466" y="1664664"/>
            <a:ext cx="10363200" cy="1470025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7030A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fld id="{CBBAA8C2-CBD2-7941-B411-B1F2967BF960}" type="datetime1">
              <a:rPr kumimoji="1" lang="zh-CN" altLang="en-US" smtClean="0"/>
              <a:t>2026/7/2</a:t>
            </a:fld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线连接符 7"/>
          <p:cNvCxnSpPr/>
          <p:nvPr userDrawn="1"/>
        </p:nvCxnSpPr>
        <p:spPr>
          <a:xfrm>
            <a:off x="0" y="3134689"/>
            <a:ext cx="11277600" cy="0"/>
          </a:xfrm>
          <a:prstGeom prst="line">
            <a:avLst/>
          </a:prstGeom>
          <a:noFill/>
          <a:ln w="47625" cap="flat" cmpd="sng" algn="ctr">
            <a:gradFill flip="none" rotWithShape="1">
              <a:gsLst>
                <a:gs pos="100000">
                  <a:srgbClr val="B67DAD">
                    <a:lumMod val="75000"/>
                    <a:lumOff val="25000"/>
                  </a:srgbClr>
                </a:gs>
                <a:gs pos="50000">
                  <a:srgbClr val="7030A0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36523"/>
            <a:ext cx="10972800" cy="778096"/>
          </a:xfrm>
        </p:spPr>
        <p:txBody>
          <a:bodyPr/>
          <a:lstStyle>
            <a:lvl1pPr algn="l">
              <a:defRPr>
                <a:solidFill>
                  <a:srgbClr val="7030A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fld id="{8CE6481F-364A-BB40-9455-CE52A74D63D8}" type="datetime1">
              <a:rPr kumimoji="1" lang="zh-CN" altLang="en-US" smtClean="0"/>
              <a:t>2026/7/2</a:t>
            </a:fld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1DF94-F1FC-DF46-AE58-99AAA9F03207}" type="datetime1">
              <a:rPr kumimoji="1" lang="zh-CN" altLang="en-US" smtClean="0"/>
              <a:t>2026/7/2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BC79-F840-5C4C-9486-0F5EF50A835A}" type="datetime1">
              <a:rPr kumimoji="1" lang="zh-CN" altLang="en-US" smtClean="0"/>
              <a:t>2026/7/2</a:t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D47C-FC9B-834D-A855-86A0A12F15DA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EBBC-FDCD-A741-8D19-7891B55F260A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2CD-64DF-FD49-A7E3-29F4831D9621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4F99-6C3D-194D-8778-C368FFFEF9A3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F1822-4DCE-D940-B74C-9C3412EA9550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C0DC0-F1B8-A84B-B2DA-CA68FA989C60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ED429-76E5-4542-88F7-CA8AC4A41D1D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137528"/>
            <a:ext cx="10972800" cy="77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fld id="{5F0B40A2-4DD2-DD45-BED0-636BD0159377}" type="datetime1">
              <a:rPr kumimoji="1" lang="zh-CN" altLang="en-US" smtClean="0"/>
              <a:t>2026/7/2</a:t>
            </a:fld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fld id="{30C027FA-5D0F-AE4A-A4CA-45C0847AEA4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8" name="直线连接符 7"/>
          <p:cNvCxnSpPr/>
          <p:nvPr userDrawn="1"/>
        </p:nvCxnSpPr>
        <p:spPr>
          <a:xfrm>
            <a:off x="0" y="980728"/>
            <a:ext cx="12192000" cy="0"/>
          </a:xfrm>
          <a:prstGeom prst="line">
            <a:avLst/>
          </a:prstGeom>
          <a:ln w="47625">
            <a:solidFill>
              <a:schemeClr val="accent5">
                <a:lumMod val="40000"/>
                <a:lumOff val="60000"/>
                <a:alpha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/>
          <p:cNvCxnSpPr/>
          <p:nvPr userDrawn="1"/>
        </p:nvCxnSpPr>
        <p:spPr>
          <a:xfrm>
            <a:off x="0" y="980728"/>
            <a:ext cx="12192000" cy="0"/>
          </a:xfrm>
          <a:prstGeom prst="line">
            <a:avLst/>
          </a:prstGeom>
          <a:noFill/>
          <a:ln w="47625" cap="flat" cmpd="sng" algn="ctr">
            <a:gradFill flip="none" rotWithShape="1">
              <a:gsLst>
                <a:gs pos="100000">
                  <a:srgbClr val="B67DAD">
                    <a:lumMod val="75000"/>
                    <a:lumOff val="25000"/>
                  </a:srgbClr>
                </a:gs>
                <a:gs pos="50000">
                  <a:srgbClr val="7030A0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</a:ln>
          <a:effectLst/>
        </p:spPr>
      </p:cxnSp>
      <p:sp>
        <p:nvSpPr>
          <p:cNvPr id="12" name="页脚占位符 1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rgbClr val="7030A0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4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8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800" kern="12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Calibri" panose="020F050202020403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ns2:creationId id="{DB82B55B-9D6B-3AD4-7630-6E9460D6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>
            <a:noAutofit/>
          </a:bodyPr>
          <a:lstStyle/>
          <a:p>
            <a:pPr algn="l">
              <a:lnSpc>
                <a:spcPts val="3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1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全栈仿真：让网络等待回到推理服务</a:t>
            </a:r>
            <a:endParaRPr lang="zh-CN" sz="3100"/>
          </a:p>
        </p:txBody>
      </p:sp>
      <p:sp>
        <p:nvSpPr>
          <p:cNvPr id="4" name="灯片编号占位符 3">
            <a:extLst>
              <a:ext uri="{FF2B5EF4-FFF2-40B4-BE49-F238E27FC236}">
                <ns2:creationId id="{73F159F8-F287-D3AA-A9D1-F1A0D62C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0" rIns="0" tIns="0" bIns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96929B"/>
                </a:solidFill>
                <a:latin typeface="WenQuanYi Micro Hei"/>
                <a:ea typeface="WenQuanYi Micro Hei"/>
                <a:cs typeface="WenQuanYi Micro Hei"/>
              </a:rPr>
              <a:t>1</a:t>
            </a:r>
            <a:endParaRPr lang="zh-CN" sz="1000"/>
          </a:p>
        </p:txBody>
      </p:sp>
      <p:sp>
        <p:nvSpPr>
          <p:cNvPr id="20" name="文本 2026.10.19  |  MoE推理 · Scale-Out网络"/>
          <p:cNvSpPr txBox="1"/>
          <p:nvPr/>
        </p:nvSpPr>
        <p:spPr>
          <a:xfrm>
            <a:off x="609600" y="6527800"/>
            <a:ext cx="762000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>
                <a:solidFill>
                  <a:srgbClr val="64606C"/>
                </a:solidFill>
                <a:latin typeface="WenQuanYi Micro Hei"/>
                <a:ea typeface="WenQuanYi Micro Hei"/>
                <a:cs typeface="WenQuanYi Micro Hei"/>
              </a:rPr>
              <a:t>2026.10.19  |  MoE推理 · Scale-Out网络</a:t>
            </a:r>
            <a:endParaRPr lang="zh-CN" sz="950"/>
          </a:p>
        </p:txBody>
      </p:sp>
      <p:sp>
        <p:nvSpPr>
          <p:cNvPr id="21" name="文本 目标：解释MoE跨机通信为何拖慢Decode，并比较等资源优化方案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目标：解释MoE跨机通信为何拖慢Decode，并比较等资源优化方案</a:t>
            </a:r>
            <a:endParaRPr lang="zh-CN" sz="1900"/>
          </a:p>
        </p:txBody>
      </p:sp>
      <p:cxnSp>
        <p:nvCxnSpPr>
          <p:cNvPr id="22" name="连接箭头"/>
          <p:cNvCxnSpPr/>
          <p:nvPr/>
        </p:nvCxnSpPr>
        <p:spPr>
          <a:xfrm flipH="0" flipV="0">
            <a:off x="2618740" y="2705100"/>
            <a:ext cx="20320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cxnSp>
        <p:nvCxnSpPr>
          <p:cNvPr id="23" name="连接箭头"/>
          <p:cNvCxnSpPr/>
          <p:nvPr/>
        </p:nvCxnSpPr>
        <p:spPr>
          <a:xfrm flipH="0" flipV="0">
            <a:off x="4869180" y="2705100"/>
            <a:ext cx="20320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cxnSp>
        <p:nvCxnSpPr>
          <p:cNvPr id="24" name="连接箭头"/>
          <p:cNvCxnSpPr/>
          <p:nvPr/>
        </p:nvCxnSpPr>
        <p:spPr>
          <a:xfrm flipH="0" flipV="0">
            <a:off x="7119620" y="2705100"/>
            <a:ext cx="20320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cxnSp>
        <p:nvCxnSpPr>
          <p:cNvPr id="25" name="连接箭头"/>
          <p:cNvCxnSpPr/>
          <p:nvPr/>
        </p:nvCxnSpPr>
        <p:spPr>
          <a:xfrm flipH="0" flipV="0">
            <a:off x="9370060" y="2705100"/>
            <a:ext cx="20320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sp>
        <p:nvSpPr>
          <p:cNvPr id="26" name="链路卡片"/>
          <p:cNvSpPr txBox="1"/>
          <p:nvPr/>
        </p:nvSpPr>
        <p:spPr>
          <a:xfrm>
            <a:off x="60960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27" name="文本 请求与组批"/>
          <p:cNvSpPr txBox="1"/>
          <p:nvPr/>
        </p:nvSpPr>
        <p:spPr>
          <a:xfrm>
            <a:off x="69850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请求与组批</a:t>
            </a:r>
            <a:endParaRPr lang="zh-CN" sz="1600"/>
          </a:p>
        </p:txBody>
      </p:sp>
      <p:sp>
        <p:nvSpPr>
          <p:cNvPr id="28" name="文本 LLMServingSim"/>
          <p:cNvSpPr txBox="1"/>
          <p:nvPr/>
        </p:nvSpPr>
        <p:spPr>
          <a:xfrm>
            <a:off x="68580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LLMServingSim</a:t>
            </a:r>
            <a:endParaRPr lang="zh-CN" sz="1320"/>
          </a:p>
        </p:txBody>
      </p:sp>
      <p:sp>
        <p:nvSpPr>
          <p:cNvPr id="29" name="文本 模型 / batch / KV / 逐请求专家选择"/>
          <p:cNvSpPr txBox="1"/>
          <p:nvPr/>
        </p:nvSpPr>
        <p:spPr>
          <a:xfrm>
            <a:off x="68580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模型 / batch / KV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逐请求专家选择</a:t>
            </a:r>
            <a:endParaRPr lang="zh-CN" sz="1280"/>
          </a:p>
        </p:txBody>
      </p:sp>
      <p:sp>
        <p:nvSpPr>
          <p:cNvPr id="30" name="链路卡片"/>
          <p:cNvSpPr txBox="1"/>
          <p:nvPr/>
        </p:nvSpPr>
        <p:spPr>
          <a:xfrm>
            <a:off x="286004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31" name="文本 任务与字节生成"/>
          <p:cNvSpPr txBox="1"/>
          <p:nvPr/>
        </p:nvSpPr>
        <p:spPr>
          <a:xfrm>
            <a:off x="294894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任务与字节生成</a:t>
            </a:r>
            <a:endParaRPr lang="zh-CN" sz="1600"/>
          </a:p>
        </p:txBody>
      </p:sp>
      <p:sp>
        <p:nvSpPr>
          <p:cNvPr id="32" name="文本 本项目生成器"/>
          <p:cNvSpPr txBox="1"/>
          <p:nvPr/>
        </p:nvSpPr>
        <p:spPr>
          <a:xfrm>
            <a:off x="293624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本项目生成器</a:t>
            </a:r>
            <a:endParaRPr lang="zh-CN" sz="1320"/>
          </a:p>
        </p:txBody>
      </p:sp>
      <p:sp>
        <p:nvSpPr>
          <p:cNvPr id="33" name="文本 逐层路由＋专家放置 / COMP / SEND / RECV"/>
          <p:cNvSpPr txBox="1"/>
          <p:nvPr/>
        </p:nvSpPr>
        <p:spPr>
          <a:xfrm>
            <a:off x="293624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逐层路由＋专家放置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COMP / SEND / RECV</a:t>
            </a:r>
            <a:endParaRPr lang="zh-CN" sz="1280"/>
          </a:p>
        </p:txBody>
      </p:sp>
      <p:sp>
        <p:nvSpPr>
          <p:cNvPr id="34" name="链路卡片"/>
          <p:cNvSpPr txBox="1"/>
          <p:nvPr/>
        </p:nvSpPr>
        <p:spPr>
          <a:xfrm>
            <a:off x="511048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35" name="文本 依赖执行"/>
          <p:cNvSpPr txBox="1"/>
          <p:nvPr/>
        </p:nvSpPr>
        <p:spPr>
          <a:xfrm>
            <a:off x="519938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依赖执行</a:t>
            </a:r>
            <a:endParaRPr lang="zh-CN" sz="1600"/>
          </a:p>
        </p:txBody>
      </p:sp>
      <p:sp>
        <p:nvSpPr>
          <p:cNvPr id="36" name="文本 Chakra → ASTRA"/>
          <p:cNvSpPr txBox="1"/>
          <p:nvPr/>
        </p:nvSpPr>
        <p:spPr>
          <a:xfrm>
            <a:off x="518668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Chakra → ASTRA</a:t>
            </a:r>
            <a:endParaRPr lang="zh-CN" sz="1320"/>
          </a:p>
        </p:txBody>
      </p:sp>
      <p:sp>
        <p:nvSpPr>
          <p:cNvPr id="37" name="文本 计算与通信任务图 / 前驱满足才发起"/>
          <p:cNvSpPr txBox="1"/>
          <p:nvPr/>
        </p:nvSpPr>
        <p:spPr>
          <a:xfrm>
            <a:off x="518668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计算与通信任务图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前驱满足才发起</a:t>
            </a:r>
            <a:endParaRPr lang="zh-CN" sz="1280"/>
          </a:p>
        </p:txBody>
      </p:sp>
      <p:sp>
        <p:nvSpPr>
          <p:cNvPr id="38" name="链路卡片"/>
          <p:cNvSpPr txBox="1"/>
          <p:nvPr/>
        </p:nvSpPr>
        <p:spPr>
          <a:xfrm>
            <a:off x="736092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39" name="文本 网络仿真"/>
          <p:cNvSpPr txBox="1"/>
          <p:nvPr/>
        </p:nvSpPr>
        <p:spPr>
          <a:xfrm>
            <a:off x="744982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网络仿真</a:t>
            </a:r>
            <a:endParaRPr lang="zh-CN" sz="1600"/>
          </a:p>
        </p:txBody>
      </p:sp>
      <p:sp>
        <p:nvSpPr>
          <p:cNvPr id="40" name="文本 原生RDMA ns-3"/>
          <p:cNvSpPr txBox="1"/>
          <p:nvPr/>
        </p:nvSpPr>
        <p:spPr>
          <a:xfrm>
            <a:off x="743712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原生RDMA ns-3</a:t>
            </a:r>
            <a:endParaRPr lang="zh-CN" sz="1320"/>
          </a:p>
        </p:txBody>
      </p:sp>
      <p:sp>
        <p:nvSpPr>
          <p:cNvPr id="41" name="文本 机内抽象＋跨机RDMA / NIC、交换机、队列"/>
          <p:cNvSpPr txBox="1"/>
          <p:nvPr/>
        </p:nvSpPr>
        <p:spPr>
          <a:xfrm>
            <a:off x="743712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机内抽象＋跨机RDMA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NIC、交换机、队列</a:t>
            </a:r>
            <a:endParaRPr lang="zh-CN" sz="1280"/>
          </a:p>
        </p:txBody>
      </p:sp>
      <p:sp>
        <p:nvSpPr>
          <p:cNvPr id="42" name="链路卡片"/>
          <p:cNvSpPr txBox="1"/>
          <p:nvPr/>
        </p:nvSpPr>
        <p:spPr>
          <a:xfrm>
            <a:off x="9611360" y="1943100"/>
            <a:ext cx="1971040" cy="1600200"/>
          </a:xfrm>
          <a:prstGeom prst="roundRect">
            <a:avLst/>
          </a:prstGeom>
          <a:solidFill>
            <a:srgbClr val="F6F0FA"/>
          </a:solidFill>
          <a:ln w="9525">
            <a:solidFill>
              <a:srgbClr val="DDD3E5"/>
            </a:solidFill>
          </a:ln>
        </p:spPr>
      </p:sp>
      <p:sp>
        <p:nvSpPr>
          <p:cNvPr id="43" name="文本 完成与服务推进"/>
          <p:cNvSpPr txBox="1"/>
          <p:nvPr/>
        </p:nvSpPr>
        <p:spPr>
          <a:xfrm>
            <a:off x="9700260" y="2108200"/>
            <a:ext cx="179324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完成与服务推进</a:t>
            </a:r>
            <a:endParaRPr lang="zh-CN" sz="1600"/>
          </a:p>
        </p:txBody>
      </p:sp>
      <p:sp>
        <p:nvSpPr>
          <p:cNvPr id="44" name="文本 实际完成回调"/>
          <p:cNvSpPr txBox="1"/>
          <p:nvPr/>
        </p:nvSpPr>
        <p:spPr>
          <a:xfrm>
            <a:off x="9687560" y="2501900"/>
            <a:ext cx="181864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2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实际完成回调</a:t>
            </a:r>
            <a:endParaRPr lang="zh-CN" sz="1320"/>
          </a:p>
        </p:txBody>
      </p:sp>
      <p:sp>
        <p:nvSpPr>
          <p:cNvPr id="45" name="文本 数据就绪→后继计算 / 整轮完成→下轮组批"/>
          <p:cNvSpPr txBox="1"/>
          <p:nvPr/>
        </p:nvSpPr>
        <p:spPr>
          <a:xfrm>
            <a:off x="9687560" y="2959100"/>
            <a:ext cx="1818640" cy="495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数据就绪→后继计算</a:t>
            </a:r>
            <a:endParaRPr lang="zh-CN" sz="1280"/>
          </a:p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8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整轮完成→下轮组批</a:t>
            </a:r>
            <a:endParaRPr lang="zh-CN" sz="1280"/>
          </a:p>
        </p:txBody>
      </p:sp>
      <p:cxnSp>
        <p:nvCxnSpPr>
          <p:cNvPr id="46" name="连接线"/>
          <p:cNvCxnSpPr/>
          <p:nvPr/>
        </p:nvCxnSpPr>
        <p:spPr>
          <a:xfrm flipH="0" flipV="0">
            <a:off x="10596880" y="3543300"/>
            <a:ext cx="0" cy="241300"/>
          </a:xfrm>
          <a:prstGeom prst="line">
            <a:avLst/>
          </a:prstGeom>
          <a:ln w="21590">
            <a:solidFill>
              <a:srgbClr val="7030A0"/>
            </a:solidFill>
          </a:ln>
        </p:spPr>
      </p:cxnSp>
      <p:cxnSp>
        <p:nvCxnSpPr>
          <p:cNvPr id="47" name="连接箭头"/>
          <p:cNvCxnSpPr/>
          <p:nvPr/>
        </p:nvCxnSpPr>
        <p:spPr>
          <a:xfrm flipH="1" flipV="0">
            <a:off x="1595120" y="3784600"/>
            <a:ext cx="9001760" cy="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cxnSp>
        <p:nvCxnSpPr>
          <p:cNvPr id="48" name="连接箭头"/>
          <p:cNvCxnSpPr/>
          <p:nvPr/>
        </p:nvCxnSpPr>
        <p:spPr>
          <a:xfrm flipH="0" flipV="1">
            <a:off x="1595120" y="3543300"/>
            <a:ext cx="0" cy="241300"/>
          </a:xfrm>
          <a:prstGeom prst="line">
            <a:avLst/>
          </a:prstGeom>
          <a:ln w="21590">
            <a:solidFill>
              <a:srgbClr val="7030A0"/>
            </a:solidFill>
            <a:tailEnd type="triangle" w="sm" len="sm"/>
          </a:ln>
        </p:spPr>
      </p:cxnSp>
      <p:sp>
        <p:nvSpPr>
          <p:cNvPr id="49" name="文本 实际完成事件反馈：多个副本共用同一持续网络，网络等待改变后续进度"/>
          <p:cNvSpPr txBox="1"/>
          <p:nvPr/>
        </p:nvSpPr>
        <p:spPr>
          <a:xfrm>
            <a:off x="977900" y="3937000"/>
            <a:ext cx="10236200" cy="330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实际完成事件反馈：多个副本共用同一持续网络，网络等待改变后续进度</a:t>
            </a:r>
            <a:endParaRPr lang="zh-CN" sz="1600"/>
          </a:p>
        </p:txBody>
      </p:sp>
      <p:sp>
        <p:nvSpPr>
          <p:cNvPr id="50" name="文本 已有验证"/>
          <p:cNvSpPr txBox="1"/>
          <p:nvPr/>
        </p:nvSpPr>
        <p:spPr>
          <a:xfrm>
            <a:off x="609600" y="4533900"/>
            <a:ext cx="5334000" cy="317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已有验证</a:t>
            </a:r>
            <a:endParaRPr lang="zh-CN" sz="1800"/>
          </a:p>
        </p:txBody>
      </p:sp>
      <p:sp>
        <p:nvSpPr>
          <p:cNvPr id="51" name="文本 关注的网络结果"/>
          <p:cNvSpPr txBox="1"/>
          <p:nvPr/>
        </p:nvSpPr>
        <p:spPr>
          <a:xfrm>
            <a:off x="6362700" y="4533900"/>
            <a:ext cx="5219700" cy="317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关注的网络结果</a:t>
            </a:r>
            <a:endParaRPr lang="zh-CN" sz="1800"/>
          </a:p>
        </p:txBody>
      </p:sp>
      <p:sp>
        <p:nvSpPr>
          <p:cNvPr id="52" name="文本 真实路由：4卡 / 2机 / 2Pod，两层两步 / 规模：128卡单EP；256/512卡多EP4副本"/>
          <p:cNvSpPr txBox="1"/>
          <p:nvPr/>
        </p:nvSpPr>
        <p:spPr>
          <a:xfrm>
            <a:off x="609600" y="4965700"/>
            <a:ext cx="5511800" cy="635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2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真实路由：4卡 / 2机 / 2Pod，两层两步</a:t>
            </a:r>
            <a:endParaRPr lang="zh-CN" sz="1520"/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2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规模：128卡单EP；256/512卡多EP4副本</a:t>
            </a:r>
            <a:endParaRPr lang="zh-CN" sz="1520"/>
          </a:p>
        </p:txBody>
      </p:sp>
      <p:sp>
        <p:nvSpPr>
          <p:cNvPr id="53" name="文本 Dispatch/Combine等待 → Decode步长 / 固定任务与资源，定位NIC及各层交换出口"/>
          <p:cNvSpPr txBox="1"/>
          <p:nvPr/>
        </p:nvSpPr>
        <p:spPr>
          <a:xfrm>
            <a:off x="6362700" y="4965700"/>
            <a:ext cx="5219700" cy="635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2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Dispatch/Combine等待 → Decode步长</a:t>
            </a:r>
            <a:endParaRPr lang="zh-CN" sz="1520"/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2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固定任务与资源，定位NIC及各层交换出口</a:t>
            </a:r>
            <a:endParaRPr lang="zh-CN" sz="1520"/>
          </a:p>
        </p:txBody>
      </p:sp>
      <p:sp>
        <p:nvSpPr>
          <p:cNvPr id="54" name="文本 当前范围：KV已就绪的Decode；计算为声明成本；千卡两次超时，尚未验收。"/>
          <p:cNvSpPr txBox="1"/>
          <p:nvPr/>
        </p:nvSpPr>
        <p:spPr>
          <a:xfrm>
            <a:off x="609600" y="5892800"/>
            <a:ext cx="10972800" cy="368300"/>
          </a:xfrm>
          <a:prstGeom prst="rect">
            <a:avLst/>
          </a:prstGeom>
          <a:solidFill>
            <a:srgbClr val="F6F0FA"/>
          </a:solidFill>
          <a:ln w="9525">
            <a:noFill/>
          </a:ln>
        </p:spPr>
        <p:txBody>
          <a:bodyPr wrap="square" anchor="t" lIns="63500" rIns="63500" tIns="63500" bIns="63500">
            <a:noAutofit/>
          </a:bodyPr>
          <a:lstStyle/>
          <a:p>
            <a:pPr algn="l">
              <a:lnSpc>
                <a:spcPts val="16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30" b="0">
                <a:solidFill>
                  <a:srgbClr val="64606C"/>
                </a:solidFill>
                <a:latin typeface="WenQuanYi Micro Hei"/>
                <a:ea typeface="WenQuanYi Micro Hei"/>
                <a:cs typeface="WenQuanYi Micro Hei"/>
              </a:rPr>
              <a:t>当前范围：KV已就绪的Decode；计算为声明成本；千卡两次超时，尚未验收。</a:t>
            </a:r>
            <a:endParaRPr lang="zh-CN" sz="1330"/>
          </a:p>
        </p:txBody>
      </p:sp>
    </p:spTree>
    <p:extLst>
      <p:ext uri="{BB962C8B-B14F-4D97-AF65-F5344CB8AC3E}">
        <ns3:creationId val="483041922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ns2:creationId id="{DB82B55B-9D6B-3AD4-7630-6E9460D6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>
            <a:noAutofit/>
          </a:bodyPr>
          <a:lstStyle/>
          <a:p>
            <a:pPr algn="l">
              <a:lnSpc>
                <a:spcPts val="3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1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拟增加细节：从流量热点走向网络机制</a:t>
            </a:r>
            <a:endParaRPr lang="zh-CN" sz="3100"/>
          </a:p>
        </p:txBody>
      </p:sp>
      <p:sp>
        <p:nvSpPr>
          <p:cNvPr id="4" name="灯片编号占位符 3">
            <a:extLst>
              <a:ext uri="{FF2B5EF4-FFF2-40B4-BE49-F238E27FC236}">
                <ns2:creationId id="{73F159F8-F287-D3AA-A9D1-F1A0D62C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 lIns="0" rIns="0" tIns="0" bIns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>
                <a:solidFill>
                  <a:srgbClr val="96929B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  <a:endParaRPr lang="zh-CN" sz="1000"/>
          </a:p>
        </p:txBody>
      </p:sp>
      <p:sp>
        <p:nvSpPr>
          <p:cNvPr id="20" name="文本 2026.10.19  |  MoE推理 · Scale-Out网络"/>
          <p:cNvSpPr txBox="1"/>
          <p:nvPr/>
        </p:nvSpPr>
        <p:spPr>
          <a:xfrm>
            <a:off x="609600" y="6527800"/>
            <a:ext cx="762000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>
                <a:solidFill>
                  <a:srgbClr val="64606C"/>
                </a:solidFill>
                <a:latin typeface="WenQuanYi Micro Hei"/>
                <a:ea typeface="WenQuanYi Micro Hei"/>
                <a:cs typeface="WenQuanYi Micro Hei"/>
              </a:rPr>
              <a:t>2026.10.19  |  MoE推理 · Scale-Out网络</a:t>
            </a:r>
            <a:endParaRPr lang="zh-CN" sz="950"/>
          </a:p>
        </p:txBody>
      </p:sp>
      <p:sp>
        <p:nvSpPr>
          <p:cNvPr id="21" name="文本 优先深化Scale-Out网络：先证明瓶颈，再选择一种优化机制"/>
          <p:cNvSpPr txBox="1"/>
          <p:nvPr/>
        </p:nvSpPr>
        <p:spPr>
          <a:xfrm>
            <a:off x="609600" y="1231900"/>
            <a:ext cx="109728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1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优先深化Scale-Out网络：先证明瓶颈，再选择一种优化机制</a:t>
            </a:r>
            <a:endParaRPr lang="zh-CN" sz="1900"/>
          </a:p>
        </p:txBody>
      </p:sp>
      <p:sp>
        <p:nvSpPr>
          <p:cNvPr id="22" name="文本 拟补细节"/>
          <p:cNvSpPr txBox="1"/>
          <p:nvPr/>
        </p:nvSpPr>
        <p:spPr>
          <a:xfrm>
            <a:off x="609600" y="1803400"/>
            <a:ext cx="2197100" cy="406400"/>
          </a:xfrm>
          <a:prstGeom prst="rect">
            <a:avLst/>
          </a:prstGeom>
          <a:solidFill>
            <a:srgbClr val="7030A0"/>
          </a:solidFill>
          <a:ln w="9525">
            <a:noFill/>
          </a:ln>
        </p:spPr>
        <p:txBody>
          <a:bodyPr wrap="square" anchor="t" lIns="76200" rIns="76200" tIns="76200" bIns="7620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拟补细节</a:t>
            </a:r>
            <a:endParaRPr lang="zh-CN" sz="1600"/>
          </a:p>
        </p:txBody>
      </p:sp>
      <p:sp>
        <p:nvSpPr>
          <p:cNvPr id="23" name="文本 在现有基础上增加什么"/>
          <p:cNvSpPr txBox="1"/>
          <p:nvPr/>
        </p:nvSpPr>
        <p:spPr>
          <a:xfrm>
            <a:off x="2806700" y="1803400"/>
            <a:ext cx="5575300" cy="406400"/>
          </a:xfrm>
          <a:prstGeom prst="rect">
            <a:avLst/>
          </a:prstGeom>
          <a:solidFill>
            <a:srgbClr val="7030A0"/>
          </a:solidFill>
          <a:ln w="9525">
            <a:noFill/>
          </a:ln>
        </p:spPr>
        <p:txBody>
          <a:bodyPr wrap="square" anchor="t" lIns="76200" rIns="76200" tIns="76200" bIns="7620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在现有基础上增加什么</a:t>
            </a:r>
            <a:endParaRPr lang="zh-CN" sz="1600"/>
          </a:p>
        </p:txBody>
      </p:sp>
      <p:sp>
        <p:nvSpPr>
          <p:cNvPr id="24" name="文本 要回答的问题"/>
          <p:cNvSpPr txBox="1"/>
          <p:nvPr/>
        </p:nvSpPr>
        <p:spPr>
          <a:xfrm>
            <a:off x="8382000" y="1803400"/>
            <a:ext cx="3200400" cy="406400"/>
          </a:xfrm>
          <a:prstGeom prst="rect">
            <a:avLst/>
          </a:prstGeom>
          <a:solidFill>
            <a:srgbClr val="7030A0"/>
          </a:solidFill>
          <a:ln w="9525">
            <a:noFill/>
          </a:ln>
        </p:spPr>
        <p:txBody>
          <a:bodyPr wrap="square" anchor="t" lIns="76200" rIns="76200" tIns="76200" bIns="7620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要回答的问题</a:t>
            </a:r>
            <a:endParaRPr lang="zh-CN" sz="1600"/>
          </a:p>
        </p:txBody>
      </p:sp>
      <p:sp>
        <p:nvSpPr>
          <p:cNvPr id="25" name="表格底色"/>
          <p:cNvSpPr txBox="1"/>
          <p:nvPr/>
        </p:nvSpPr>
        <p:spPr>
          <a:xfrm>
            <a:off x="609600" y="2209800"/>
            <a:ext cx="21971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26" name="表格底色"/>
          <p:cNvSpPr txBox="1"/>
          <p:nvPr/>
        </p:nvSpPr>
        <p:spPr>
          <a:xfrm>
            <a:off x="2806700" y="2209800"/>
            <a:ext cx="55753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27" name="表格底色"/>
          <p:cNvSpPr txBox="1"/>
          <p:nvPr/>
        </p:nvSpPr>
        <p:spPr>
          <a:xfrm>
            <a:off x="8382000" y="2209800"/>
            <a:ext cx="32004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28" name="文本 01  路由与通信组织"/>
          <p:cNvSpPr txBox="1"/>
          <p:nvPr/>
        </p:nvSpPr>
        <p:spPr>
          <a:xfrm>
            <a:off x="711200" y="2463800"/>
            <a:ext cx="19939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01  路由与通信组织</a:t>
            </a:r>
            <a:endParaRPr lang="zh-CN" sz="1420"/>
          </a:p>
        </p:txBody>
      </p:sp>
      <p:sp>
        <p:nvSpPr>
          <p:cNvPr id="29" name="文本 扩展真实样本与热点时序；补目的节点去重、 / 机内汇聚—跨机—机内分发，计入准备/转发成本。"/>
          <p:cNvSpPr txBox="1"/>
          <p:nvPr/>
        </p:nvSpPr>
        <p:spPr>
          <a:xfrm>
            <a:off x="2933700" y="2374900"/>
            <a:ext cx="53213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扩展真实样本与热点时序；补目的节点去重、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机内汇聚—跨机—机内分发，计入准备/转发成本。</a:t>
            </a:r>
            <a:endParaRPr lang="zh-CN" sz="1370"/>
          </a:p>
        </p:txBody>
      </p:sp>
      <p:sp>
        <p:nvSpPr>
          <p:cNvPr id="30" name="文本 热点是否跨机集中？ / 分层通信能否减少等待？"/>
          <p:cNvSpPr txBox="1"/>
          <p:nvPr/>
        </p:nvSpPr>
        <p:spPr>
          <a:xfrm>
            <a:off x="8509000" y="2374900"/>
            <a:ext cx="29464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热点是否跨机集中？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分层通信能否减少等待？</a:t>
            </a:r>
            <a:endParaRPr lang="zh-CN" sz="1370"/>
          </a:p>
        </p:txBody>
      </p:sp>
      <p:sp>
        <p:nvSpPr>
          <p:cNvPr id="31" name="表格底色"/>
          <p:cNvSpPr txBox="1"/>
          <p:nvPr/>
        </p:nvSpPr>
        <p:spPr>
          <a:xfrm>
            <a:off x="609600" y="3035300"/>
            <a:ext cx="21971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32" name="表格底色"/>
          <p:cNvSpPr txBox="1"/>
          <p:nvPr/>
        </p:nvSpPr>
        <p:spPr>
          <a:xfrm>
            <a:off x="2806700" y="3035300"/>
            <a:ext cx="55753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33" name="表格底色"/>
          <p:cNvSpPr txBox="1"/>
          <p:nvPr/>
        </p:nvSpPr>
        <p:spPr>
          <a:xfrm>
            <a:off x="8382000" y="3035300"/>
            <a:ext cx="32004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34" name="文本 02  连接与分层容量"/>
          <p:cNvSpPr txBox="1"/>
          <p:nvPr/>
        </p:nvSpPr>
        <p:spPr>
          <a:xfrm>
            <a:off x="711200" y="3289300"/>
            <a:ext cx="19939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02  连接与分层容量</a:t>
            </a:r>
            <a:endParaRPr lang="zh-CN" sz="1420"/>
          </a:p>
        </p:txBody>
      </p:sp>
      <p:sp>
        <p:nvSpPr>
          <p:cNvPr id="35" name="文本 已有Clos/rail/plane输入；补共享NIC与跨rail中继， / 明确GPU亲和、逐层带宽与等资源分流。"/>
          <p:cNvSpPr txBox="1"/>
          <p:nvPr/>
        </p:nvSpPr>
        <p:spPr>
          <a:xfrm>
            <a:off x="2933700" y="3200400"/>
            <a:ext cx="53213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已有Clos/rail/plane输入；补共享NIC与跨rail中继，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明确GPU亲和、逐层带宽与等资源分流。</a:t>
            </a:r>
            <a:endParaRPr lang="zh-CN" sz="1370"/>
          </a:p>
        </p:txBody>
      </p:sp>
      <p:sp>
        <p:nvSpPr>
          <p:cNvPr id="36" name="文本 瓶颈在哪个共享出口？ / 多路径何时有效？"/>
          <p:cNvSpPr txBox="1"/>
          <p:nvPr/>
        </p:nvSpPr>
        <p:spPr>
          <a:xfrm>
            <a:off x="8509000" y="3200400"/>
            <a:ext cx="29464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瓶颈在哪个共享出口？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多路径何时有效？</a:t>
            </a:r>
            <a:endParaRPr lang="zh-CN" sz="1370"/>
          </a:p>
        </p:txBody>
      </p:sp>
      <p:sp>
        <p:nvSpPr>
          <p:cNvPr id="37" name="表格底色"/>
          <p:cNvSpPr txBox="1"/>
          <p:nvPr/>
        </p:nvSpPr>
        <p:spPr>
          <a:xfrm>
            <a:off x="609600" y="3860800"/>
            <a:ext cx="21971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38" name="表格底色"/>
          <p:cNvSpPr txBox="1"/>
          <p:nvPr/>
        </p:nvSpPr>
        <p:spPr>
          <a:xfrm>
            <a:off x="2806700" y="3860800"/>
            <a:ext cx="55753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39" name="表格底色"/>
          <p:cNvSpPr txBox="1"/>
          <p:nvPr/>
        </p:nvSpPr>
        <p:spPr>
          <a:xfrm>
            <a:off x="8382000" y="3860800"/>
            <a:ext cx="3200400" cy="825500"/>
          </a:xfrm>
          <a:prstGeom prst="rect">
            <a:avLst/>
          </a:prstGeom>
          <a:solidFill>
            <a:srgbClr val="FAF7FC"/>
          </a:solidFill>
          <a:ln w="9525">
            <a:solidFill>
              <a:srgbClr val="DDD3E5"/>
            </a:solidFill>
          </a:ln>
        </p:spPr>
      </p:sp>
      <p:sp>
        <p:nvSpPr>
          <p:cNvPr id="40" name="文本 03  协议等待与归因"/>
          <p:cNvSpPr txBox="1"/>
          <p:nvPr/>
        </p:nvSpPr>
        <p:spPr>
          <a:xfrm>
            <a:off x="711200" y="4114800"/>
            <a:ext cx="19939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03  协议等待与归因</a:t>
            </a:r>
            <a:endParaRPr lang="zh-CN" sz="1420"/>
          </a:p>
        </p:txBody>
      </p:sp>
      <p:sp>
        <p:nvSpPr>
          <p:cNvPr id="41" name="文本 已有完成回调与摘要；补有界队列时序、 / PFC/ECN反馈和慢轮次的关键依赖链。"/>
          <p:cNvSpPr txBox="1"/>
          <p:nvPr/>
        </p:nvSpPr>
        <p:spPr>
          <a:xfrm>
            <a:off x="2933700" y="4025900"/>
            <a:ext cx="53213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已有完成回调与摘要；补有界队列时序、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PFC/ECN反馈和慢轮次的关键依赖链。</a:t>
            </a:r>
            <a:endParaRPr lang="zh-CN" sz="1370"/>
          </a:p>
        </p:txBody>
      </p:sp>
      <p:sp>
        <p:nvSpPr>
          <p:cNvPr id="42" name="文本 慢在发送、排队还是确认？ / 哪段等待真正拖慢服务？"/>
          <p:cNvSpPr txBox="1"/>
          <p:nvPr/>
        </p:nvSpPr>
        <p:spPr>
          <a:xfrm>
            <a:off x="8509000" y="4025900"/>
            <a:ext cx="29464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慢在发送、排队还是确认？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哪段等待真正拖慢服务？</a:t>
            </a:r>
            <a:endParaRPr lang="zh-CN" sz="1370"/>
          </a:p>
        </p:txBody>
      </p:sp>
      <p:sp>
        <p:nvSpPr>
          <p:cNvPr id="43" name="表格底色"/>
          <p:cNvSpPr txBox="1"/>
          <p:nvPr/>
        </p:nvSpPr>
        <p:spPr>
          <a:xfrm>
            <a:off x="609600" y="4686300"/>
            <a:ext cx="21971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44" name="表格底色"/>
          <p:cNvSpPr txBox="1"/>
          <p:nvPr/>
        </p:nvSpPr>
        <p:spPr>
          <a:xfrm>
            <a:off x="2806700" y="4686300"/>
            <a:ext cx="55753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45" name="表格底色"/>
          <p:cNvSpPr txBox="1"/>
          <p:nvPr/>
        </p:nvSpPr>
        <p:spPr>
          <a:xfrm>
            <a:off x="8382000" y="4686300"/>
            <a:ext cx="3200400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E5"/>
            </a:solidFill>
          </a:ln>
        </p:spPr>
      </p:sp>
      <p:sp>
        <p:nvSpPr>
          <p:cNvPr id="46" name="文本 04  校准与规模效率"/>
          <p:cNvSpPr txBox="1"/>
          <p:nvPr/>
        </p:nvSpPr>
        <p:spPr>
          <a:xfrm>
            <a:off x="711200" y="4940300"/>
            <a:ext cx="19939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04  校准与规模效率</a:t>
            </a:r>
            <a:endParaRPr lang="zh-CN" sz="1420"/>
          </a:p>
        </p:txBody>
      </p:sp>
      <p:sp>
        <p:nvSpPr>
          <p:cNvPr id="47" name="文本 补匹配A100/H100及消息形状的测量； / 拆分构图、执行与写出成本，再验收千卡。"/>
          <p:cNvSpPr txBox="1"/>
          <p:nvPr/>
        </p:nvSpPr>
        <p:spPr>
          <a:xfrm>
            <a:off x="2933700" y="4851400"/>
            <a:ext cx="53213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补匹配A100/H100及消息形状的测量；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拆分构图、执行与写出成本，再验收千卡。</a:t>
            </a:r>
            <a:endParaRPr lang="zh-CN" sz="1370"/>
          </a:p>
        </p:txBody>
      </p:sp>
      <p:sp>
        <p:nvSpPr>
          <p:cNvPr id="48" name="文本 预测与实机相差多少？ / 千卡能否在预算内完成？"/>
          <p:cNvSpPr txBox="1"/>
          <p:nvPr/>
        </p:nvSpPr>
        <p:spPr>
          <a:xfrm>
            <a:off x="8509000" y="4851400"/>
            <a:ext cx="2946400" cy="558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预测与实机相差多少？</a:t>
            </a:r>
            <a:endParaRPr lang="zh-CN" sz="1370"/>
          </a:p>
          <a:p>
            <a:pPr algn="l">
              <a:lnSpc>
                <a:spcPts val="1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70" b="0">
                <a:solidFill>
                  <a:srgbClr val="26232C"/>
                </a:solidFill>
                <a:latin typeface="WenQuanYi Micro Hei"/>
                <a:ea typeface="WenQuanYi Micro Hei"/>
                <a:cs typeface="WenQuanYi Micro Hei"/>
              </a:rPr>
              <a:t>千卡能否在预算内完成？</a:t>
            </a:r>
            <a:endParaRPr lang="zh-CN" sz="1370"/>
          </a:p>
        </p:txBody>
      </p:sp>
      <p:sp>
        <p:nvSpPr>
          <p:cNvPr id="49" name="文本 验证路径：真实 / 打乱 / 均匀路由＋等容量放置＋固定带宽预算"/>
          <p:cNvSpPr txBox="1"/>
          <p:nvPr/>
        </p:nvSpPr>
        <p:spPr>
          <a:xfrm>
            <a:off x="609600" y="5765800"/>
            <a:ext cx="10972800" cy="355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7030A0"/>
                </a:solidFill>
                <a:latin typeface="WenQuanYi Micro Hei"/>
                <a:ea typeface="WenQuanYi Micro Hei"/>
                <a:cs typeface="WenQuanYi Micro Hei"/>
              </a:rPr>
              <a:t>验证路径：真实 / 打乱 / 均匀路由＋等容量放置＋固定带宽预算</a:t>
            </a:r>
            <a:endParaRPr lang="zh-CN" sz="1600"/>
          </a:p>
        </p:txBody>
      </p:sp>
      <p:sp>
        <p:nvSpPr>
          <p:cNvPr id="50" name="文本 先做小图机制对照，再做硬件校准与代表性规模验证；拟增细节不作为已完成能力。"/>
          <p:cNvSpPr txBox="1"/>
          <p:nvPr/>
        </p:nvSpPr>
        <p:spPr>
          <a:xfrm>
            <a:off x="609600" y="6172200"/>
            <a:ext cx="10972800" cy="279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70" b="0">
                <a:solidFill>
                  <a:srgbClr val="64606C"/>
                </a:solidFill>
                <a:latin typeface="WenQuanYi Micro Hei"/>
                <a:ea typeface="WenQuanYi Micro Hei"/>
                <a:cs typeface="WenQuanYi Micro Hei"/>
              </a:rPr>
              <a:t>先做小图机制对照，再做硬件校准与代表性规模验证；拟增细节不作为已完成能力。</a:t>
            </a:r>
            <a:endParaRPr lang="zh-CN" sz="1270"/>
          </a:p>
        </p:txBody>
      </p:sp>
    </p:spTree>
    <p:extLst>
      <p:ext uri="{BB962C8B-B14F-4D97-AF65-F5344CB8AC3E}">
        <ns3:creationId val="4830419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Y2YTQ3MGU3ZjZlZWVkZmNiNDZjMTM2NzkwOThiZmMifQ=="/>
</p:tagLst>
</file>

<file path=ppt/theme/theme1.xml><?xml version="1.0" encoding="utf-8"?>
<a:theme xmlns:a="http://schemas.openxmlformats.org/drawingml/2006/main" name="1_Office 主题">
  <a:themeElements>
    <a:clrScheme name="办公室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24A1A"/>
      </a:accent1>
      <a:accent2>
        <a:srgbClr val="7BB900"/>
      </a:accent2>
      <a:accent3>
        <a:srgbClr val="009FEE"/>
      </a:accent3>
      <a:accent4>
        <a:srgbClr val="FFB700"/>
      </a:accent4>
      <a:accent5>
        <a:srgbClr val="9E7D2A"/>
      </a:accent5>
      <a:accent6>
        <a:srgbClr val="697279"/>
      </a:accent6>
      <a:hlink>
        <a:srgbClr val="4472C4"/>
      </a:hlink>
      <a:folHlink>
        <a:srgbClr val="BFBFBF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>
  <ns0:Application>Template-based research materials generator</ns0:Application>
  <ns0:PresentationFormat>宽屏</ns0:PresentationFormat>
  <ns0:Slides>2</ns0:Slides>
  <ns0:Notes>2</ns0:Notes>
  <ns0:HiddenSlides>0</ns0:HiddenSlides>
  <ns0:MMClips>0</ns0:MMClips>
  <ns0:ScaleCrop>false</ns0:ScaleCrop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MoE推理全栈仿真思路与拟增加的仿真细节</dc:title>
  <dc:subject>两页研究材料；当前链路与后续网络建模</dc:subject>
  <dcterms:created xsi:type="dcterms:W3CDTF">2026-10-19T00:00:00Z</dcterms:created>
  <dcterms:modified xsi:type="dcterms:W3CDTF">2026-10-19T00:00:00Z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734D3468DDC23DB25424C366D3E3F604_42</vt:lpwstr>
  </property>
  <property fmtid="{D5CDD505-2E9C-101B-9397-08002B2CF9AE}" pid="3" name="KSOProductBuildVer">
    <vt:lpwstr>2052-6.11.0.8885</vt:lpwstr>
  </property>
</Properties>
</file>