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?>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firstSlideNum="1" showSpecialPlsOnTitleSld="0">
  <p:sldMasterIdLst>
    <p:sldMasterId id="2147483648" r:id="rId1"/>
  </p:sldMasterIdLst>
  <p:notesMasterIdLst>
    <p:notesMasterId r:id="rId4"/>
  </p:notesMasterIdLst>
  <p:sldIdLst>
    <p:sldId id="6995" r:id="rId2"/>
    <p:sldId id="6997" r:id="rId3"/>
    <p:sldId id="6999" r:id="rId10"/>
  </p:sldIdLst>
  <p:sldSz cx="12192000" cy="6858000"/>
  <p:notesSz cx="6858000" cy="9144000"/>
  <p:custDataLst>
    <p:tags r:id="rId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ns3:sldGuideLst/>
    </p:ext>
    <p:ext uri="{2D200454-40CA-4A62-9FC3-DE9A4176ACB9}">
      <ns3:notes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69B"/>
    <a:srgbClr val="A2D16E"/>
    <a:srgbClr val="90D14D"/>
    <a:srgbClr val="F69240"/>
    <a:srgbClr val="4F81BD"/>
    <a:srgbClr val="E0FFE0"/>
    <a:srgbClr val="EFDFFF"/>
    <a:srgbClr val="2DCF2D"/>
    <a:srgbClr val="00008C"/>
    <a:srgbClr val="5D7B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5068" autoAdjust="0"/>
  </p:normalViewPr>
  <p:slideViewPr>
    <p:cSldViewPr>
      <p:cViewPr varScale="1">
        <p:scale>
          <a:sx n="101" d="100"/>
          <a:sy n="101" d="100"/>
        </p:scale>
        <p:origin x="208" y="520"/>
      </p:cViewPr>
      <p:guideLst/>
    </p:cSldViewPr>
  </p:slideViewPr>
  <p:outlineViewPr>
    <p:cViewPr>
      <p:scale>
        <a:sx n="33" d="100"/>
        <a:sy n="33" d="100"/>
      </p:scale>
      <p:origin x="0" y="-7752"/>
    </p:cViewPr>
  </p:outlineViewPr>
  <p:notesTextViewPr>
    <p:cViewPr>
      <p:scale>
        <a:sx n="70" d="100"/>
        <a:sy n="70" d="100"/>
      </p:scale>
      <p:origin x="0" y="0"/>
    </p:cViewPr>
  </p:notesTextViewPr>
  <p:sorterViewPr>
    <p:cViewPr>
      <p:scale>
        <a:sx n="152" d="100"/>
        <a:sy n="152" d="100"/>
      </p:scale>
      <p:origin x="0" y="-14742"/>
    </p:cViewPr>
  </p:sorterViewPr>
  <p:notesViewPr>
    <p:cSldViewPr>
      <p:cViewPr varScale="1">
        <p:scale>
          <a:sx n="118" d="100"/>
          <a:sy n="118" d="100"/>
        </p:scale>
        <p:origin x="3952" y="216"/>
      </p:cViewPr>
      <p:guideLst/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presProps" Target="presProps.xml" /><Relationship Id="rId5" Type="http://schemas.openxmlformats.org/officeDocument/2006/relationships/tags" Target="tags/tag1.xml" /><Relationship Id="rId4" Type="http://schemas.openxmlformats.org/officeDocument/2006/relationships/notesMaster" Target="notesMasters/notesMaster1.xml" /><Relationship Id="rId9" Type="http://schemas.openxmlformats.org/officeDocument/2006/relationships/tableStyles" Target="tableStyles.xml" /><Relationship Id="rId10" Type="http://schemas.openxmlformats.org/officeDocument/2006/relationships/slide" Target="slides/slide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873B2F6-9174-41D7-ADC5-585042B0CCC8}" type="datetimeFigureOut">
              <a:rPr lang="zh-CN" altLang="en-US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38737F4-E6B8-436E-A31D-D4AB5CC2059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.xml" /></Relationships>
</file>

<file path=ppt/notesSlides/_rels/notesSlide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.xml" /></Relationships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第一页：封面与汇报人介绍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大家好，我是李润宇。目前主要研究MoE推理中的通信与网络问题。这项工作同时关注两种互连：Scale-Up是设备或服务器内的互连，重点看UB端口、发送资源和队列；Scale-Out是跨服务器网络，重点看NIC、交换机、RDMA及多机共享出口。今天介绍我们怎样把请求与专家选择、计算和通信依赖、包级网络及完成反馈连接起来，以及下一步要增加哪些细节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1</a:t>
            </a:r>
            <a:endParaRPr lang="zh-CN"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第二页：全栈仿真——让网络等待回到推理服务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我们的目标，是解释MoE推理中的机内和跨服务器通信为什么会拖慢生成，并比较在相同资源下，怎样的部署和通信方式更合适。研究重点是网络：token被送到哪些专家，这些专家放在哪些设备上，通信经过哪些机内端口、NIC或交换机出口，最后怎样影响本轮以及下一轮Decode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这里说的“全栈”，是把请求调度、计算与通信任务、网络传输和服务反馈连接起来。它并不意味着已经模拟了GPU每个时钟周期，也不意味着已经覆盖训练、Prefill和所有推理模型。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这条链路分成五步。第一步，由LLMServingSim根据请求、batch和KV状态选出本轮任务，并读取相应请求在当前层、当前Decode位置的专家选择。第二步，结合专家放置，把这些选择变成明确的计算、发送和接收任务，算清设备之间的通信字节。第三步，用Chakra保存依赖，由ASTRA在前驱完成后执行任务。第四步，根据研究对象选择独立的网络后端：Scale-Up使用ns-3-UB表达设备端口、STORE/LOAD和内部队列；Scale-Out使用原生RDMA ns-3表达机内简化织构、跨机NIC、交换机队列和拥塞反馈。两条后端分别运行，不能把两次仿真耗时相加。第五步，后端将实际完成反馈上去：数据就绪后，后续计算才能继续；整轮完成后，前端才能推进请求和下一轮组批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因此，我们输入的是带依赖的任务，开始时间由前驱和网络实际完成决定。一次Scale-Out运行中的多个推理副本共享一套持续的RDMA网络；一次Scale-Up运行使用自己的UB网络。两种结果分别解释各自的等待，网络慢了，会改变后面的计算和服务进度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Scale-Up方面，128个计算端点、1024条真实来源请求的完整首轮已在UB后端执行并核验。在一个等资源对照里，目标出口队列积分增加57.60%，完整首轮只延长0.1532%；这提示我们必须把局部排队与关键路径区分开。Scale-Out方面，四份真实R1路由完成了4卡、两台服务器、两个Pod、两层两步的接入；128卡单EP与256、512卡多EP4副本也有完成证据。这些任务与网络模型不同，不能用完成时间互算扩卡收益。Scale-Out千卡两次在600秒预算处超时，尚未完成验收；目标硬件计算成本也仍需校准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2</a:t>
            </a:r>
            <a:endParaRPr lang="zh-CN" sz="10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第三页：拟增加细节——机内与跨机网络机制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接下来，我们围绕同一个问题同步深化Scale-Up与Scale-Out：真实专家偏好和物理部署，在什么条件下会形成机内端口或跨机网络的关键等待，怎样在相同总资源下减少这些等待。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第一类细节是路由与通信组织。Scale-Up继续分析真实路由下的STORE/LOAD、发送资源与响应拆分；Scale-Out保留专家热点持续性和专家共选关系，研究目的节点去重，以及“机内汇聚、跨机交换、机内分发”的分层通信。打包、转发、合并和缓冲代价都要计入。热门专家不必然造成跨机拥塞：如果它在请求本卡，跨机流量可能更少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第二类细节是物理连接与分层容量。Scale-Up要核查机内交换端口、有限缓冲、信用和发送槽；Scale-Out已有Clos、Agg、rail和平面的参数化输入，还要补清GPU与NIC亲和、共享NIC、跨rail中继和实际分流机制。比较方案时固定总带宽和端口预算，防止将增配硬件的收益算作算法收益。现有小例中，双平面并没有自动更快，说明需要看实际消息和路径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第三类细节是协议等待与跨层归因。Scale-Up已有端侧就绪、发送槽、队列和信用记录；Scale-Out已有接收就绪、ACK完成、队列与ECN/PFC摘要。下一步对选定端口补有界时序，把两条路径中的关键前驱追溯到具体资源占用：慢在端侧发送、交换机排队、协议反馈，还是专家计算。各段等待只按实际关键路径解释，不能简单相加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第四类细节是校准与规模效率。先在匹配的设备、软件、形状下补计算与通信测量，区分UB与RDMA的协议和硬件条件；必要时在局部引入GPU—NIC资源模型或硬件仿真。Scale-Out还需拆分构图、执行、逐包事件和写出成本，再重新验收千卡。Scale-Up已有完整首轮，可从真实关键等待和受控机制对照继续深化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验证顺序是：先在两条后端各自的小场景里，固定请求、专家选择和资源，追踪真实关键等待；再分别做机内发送/信用机制与跨机放置/分层通信的等资源对照。证据支持哪条路线，就优先校准和深化哪条路线；不能把两个独立仿真的时间拼在一起。最后形成有明确适用边界的网络方法、可复核论文和可重复使用的实验基准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3</a:t>
            </a:r>
            <a:endParaRPr lang="zh-CN" sz="10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29466" y="1664664"/>
            <a:ext cx="10363200" cy="1470025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7030A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fld id="{CBBAA8C2-CBD2-7941-B411-B1F2967BF960}" type="datetime1">
              <a:rPr kumimoji="1" lang="zh-CN" altLang="en-US" smtClean="0"/>
              <a:t>2026/7/2</a:t>
            </a:fld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线连接符 7"/>
          <p:cNvCxnSpPr/>
          <p:nvPr userDrawn="1"/>
        </p:nvCxnSpPr>
        <p:spPr>
          <a:xfrm>
            <a:off x="0" y="3134689"/>
            <a:ext cx="11277600" cy="0"/>
          </a:xfrm>
          <a:prstGeom prst="line">
            <a:avLst/>
          </a:prstGeom>
          <a:noFill/>
          <a:ln w="47625" cap="flat" cmpd="sng" algn="ctr">
            <a:gradFill flip="none" rotWithShape="1">
              <a:gsLst>
                <a:gs pos="100000">
                  <a:srgbClr val="B67DAD">
                    <a:lumMod val="75000"/>
                    <a:lumOff val="25000"/>
                  </a:srgbClr>
                </a:gs>
                <a:gs pos="50000">
                  <a:srgbClr val="7030A0"/>
                </a:gs>
                <a:gs pos="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</a:ln>
          <a:effectLst/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36523"/>
            <a:ext cx="10972800" cy="778096"/>
          </a:xfrm>
        </p:spPr>
        <p:txBody>
          <a:bodyPr/>
          <a:lstStyle>
            <a:lvl1pPr algn="l">
              <a:defRPr>
                <a:solidFill>
                  <a:srgbClr val="7030A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fld id="{8CE6481F-364A-BB40-9455-CE52A74D63D8}" type="datetime1">
              <a:rPr kumimoji="1" lang="zh-CN" altLang="en-US" smtClean="0"/>
              <a:t>2026/7/2</a:t>
            </a:fld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1DF94-F1FC-DF46-AE58-99AAA9F03207}" type="datetime1">
              <a:rPr kumimoji="1" lang="zh-CN" altLang="en-US" smtClean="0"/>
              <a:t>2026/7/2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2"/>
            <a:ext cx="53848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2"/>
            <a:ext cx="53848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BC79-F840-5C4C-9486-0F5EF50A835A}" type="datetime1">
              <a:rPr kumimoji="1" lang="zh-CN" altLang="en-US" smtClean="0"/>
              <a:t>2026/7/2</a:t>
            </a:fld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D47C-FC9B-834D-A855-86A0A12F15DA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EBBC-FDCD-A741-8D19-7891B55F260A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C2CD-64DF-FD49-A7E3-29F4831D9621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4F99-6C3D-194D-8778-C368FFFEF9A3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F1822-4DCE-D940-B74C-9C3412EA9550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C0DC0-F1B8-A84B-B2DA-CA68FA989C60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6"/>
            <a:ext cx="2743200" cy="4387851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6"/>
            <a:ext cx="8026400" cy="4387851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ED429-76E5-4542-88F7-CA8AC4A41D1D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137528"/>
            <a:ext cx="10972800" cy="77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defRPr>
            </a:lvl1pPr>
          </a:lstStyle>
          <a:p>
            <a:fld id="{5F0B40A2-4DD2-DD45-BED0-636BD0159377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defRPr>
            </a:lvl1pPr>
          </a:lstStyle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8" name="直线连接符 7"/>
          <p:cNvCxnSpPr/>
          <p:nvPr userDrawn="1"/>
        </p:nvCxnSpPr>
        <p:spPr>
          <a:xfrm>
            <a:off x="0" y="980728"/>
            <a:ext cx="12192000" cy="0"/>
          </a:xfrm>
          <a:prstGeom prst="line">
            <a:avLst/>
          </a:prstGeom>
          <a:ln w="47625">
            <a:solidFill>
              <a:schemeClr val="accent5">
                <a:lumMod val="40000"/>
                <a:lumOff val="60000"/>
                <a:alpha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/>
          <p:cNvCxnSpPr/>
          <p:nvPr userDrawn="1"/>
        </p:nvCxnSpPr>
        <p:spPr>
          <a:xfrm>
            <a:off x="0" y="980728"/>
            <a:ext cx="12192000" cy="0"/>
          </a:xfrm>
          <a:prstGeom prst="line">
            <a:avLst/>
          </a:prstGeom>
          <a:noFill/>
          <a:ln w="47625" cap="flat" cmpd="sng" algn="ctr">
            <a:gradFill flip="none" rotWithShape="1">
              <a:gsLst>
                <a:gs pos="100000">
                  <a:srgbClr val="B67DAD">
                    <a:lumMod val="75000"/>
                    <a:lumOff val="25000"/>
                  </a:srgbClr>
                </a:gs>
                <a:gs pos="50000">
                  <a:srgbClr val="7030A0"/>
                </a:gs>
                <a:gs pos="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</a:ln>
          <a:effectLst/>
        </p:spPr>
      </p:cxnSp>
      <p:sp>
        <p:nvSpPr>
          <p:cNvPr id="12" name="页脚占位符 11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rgbClr val="7030A0"/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400" kern="12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1800" kern="12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1800" kern="12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ns2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ctrTitle"/>
          </p:nvPr>
        </p:nvSpPr>
        <p:spPr>
          <a:xfrm>
            <a:off x="690553" y="1268760"/>
            <a:ext cx="10806048" cy="1470025"/>
          </a:xfrm>
        </p:spPr>
        <p:txBody>
          <a:bodyPr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MoE推理全栈联合仿真</a:t>
            </a:r>
            <a:br>
              <a:rPr lang="en-US" altLang="zh-CN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4000" b="0" dirty="0">
                <a:solidFill>
                  <a:srgbClr val="660874"/>
                </a:solidFill>
                <a:latin typeface="微软雅黑" panose="020B0503020204020204" pitchFamily="34" charset="-122"/>
                <a:cs typeface="Times New Roman" panose="02020603050405020304" pitchFamily="18" charset="0"/>
              </a:rPr>
              <a:t>Scale-Up与Scale-Out网络研究</a:t>
            </a:r>
            <a:endParaRPr lang="zh-CN" altLang="en-US" b="1" dirty="0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副标题 2"/>
          <p:cNvSpPr txBox="1"/>
          <p:nvPr/>
        </p:nvSpPr>
        <p:spPr bwMode="auto">
          <a:xfrm>
            <a:off x="3825585" y="3788730"/>
            <a:ext cx="4535984" cy="137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70"/>
              </a:spcBef>
            </a:pPr>
            <a:r>
              <a:rPr kumimoji="1"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汇报人：李润宇</a:t>
            </a:r>
            <a:endParaRPr kumimoji="1"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370"/>
              </a:spcBef>
            </a:pPr>
            <a:r>
              <a:rPr kumimoji="1" lang="zh-CN" altLang="en-US" sz="19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研究方向：MoE推理网络仿真</a:t>
            </a:r>
            <a:endParaRPr kumimoji="1"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370"/>
              </a:spcBef>
            </a:pPr>
            <a:r>
              <a:rPr kumimoji="1"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2026年10月20日</a:t>
            </a:r>
            <a:endParaRPr kumimoji="1" lang="en-US" altLang="zh-CN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ns2:creationId id="{DB82B55B-9D6B-3AD4-7630-6E9460D6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>
            <a:noAutofit/>
          </a:bodyPr>
          <a:lstStyle/>
          <a:p>
            <a:pPr algn="l">
              <a:lnSpc>
                <a:spcPts val="3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1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全栈仿真：机内与跨机网络等待反馈</a:t>
            </a:r>
            <a:endParaRPr lang="zh-CN" sz="3100"/>
          </a:p>
        </p:txBody>
      </p:sp>
      <p:sp>
        <p:nvSpPr>
          <p:cNvPr id="4" name="灯片编号占位符 3">
            <a:extLst>
              <a:ext uri="{FF2B5EF4-FFF2-40B4-BE49-F238E27FC236}">
                <ns2:creationId id="{73F159F8-F287-D3AA-A9D1-F1A0D62C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 lIns="0" rIns="0" tIns="0" bIns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>
                <a:solidFill>
                  <a:srgbClr val="96929B"/>
                </a:solidFill>
                <a:latin typeface="WenQuanYi Micro Hei"/>
                <a:ea typeface="WenQuanYi Micro Hei"/>
                <a:cs typeface="WenQuanYi Micro Hei"/>
              </a:rPr>
              <a:t>2</a:t>
            </a:r>
            <a:endParaRPr lang="zh-CN" sz="1000"/>
          </a:p>
        </p:txBody>
      </p:sp>
      <p:sp>
        <p:nvSpPr>
          <p:cNvPr id="20" name="文本 2026.10.20  |  MoE推理 · Scale-Up / Scale-Out网络"/>
          <p:cNvSpPr txBox="1"/>
          <p:nvPr/>
        </p:nvSpPr>
        <p:spPr>
          <a:xfrm>
            <a:off x="609600" y="6527800"/>
            <a:ext cx="8763000" cy="190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>
                <a:solidFill>
                  <a:srgbClr val="64606C"/>
                </a:solidFill>
                <a:latin typeface="WenQuanYi Micro Hei"/>
                <a:ea typeface="WenQuanYi Micro Hei"/>
                <a:cs typeface="WenQuanYi Micro Hei"/>
              </a:rPr>
              <a:t>2026.10.20  |  MoE推理 · Scale-Up / Scale-Out网络</a:t>
            </a:r>
            <a:endParaRPr lang="zh-CN" sz="950"/>
          </a:p>
        </p:txBody>
      </p:sp>
      <p:sp>
        <p:nvSpPr>
          <p:cNvPr id="21" name="文本 目标：解释MoE机内/跨机通信如何拖慢Decode，比较等资源优化方案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1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目标：解释MoE机内/跨机通信如何拖慢Decode，比较等资源优化方案</a:t>
            </a:r>
            <a:endParaRPr lang="zh-CN" sz="1900"/>
          </a:p>
        </p:txBody>
      </p:sp>
      <p:cxnSp>
        <p:nvCxnSpPr>
          <p:cNvPr id="22" name="连接箭头"/>
          <p:cNvCxnSpPr/>
          <p:nvPr/>
        </p:nvCxnSpPr>
        <p:spPr>
          <a:xfrm flipH="0" flipV="0">
            <a:off x="2618740" y="2705100"/>
            <a:ext cx="203200" cy="0"/>
          </a:xfrm>
          <a:prstGeom prst="line">
            <a:avLst/>
          </a:prstGeom>
          <a:ln w="21590">
            <a:solidFill>
              <a:srgbClr val="7030A0"/>
            </a:solidFill>
            <a:tailEnd type="triangle" w="sm" len="sm"/>
          </a:ln>
        </p:spPr>
      </p:cxnSp>
      <p:cxnSp>
        <p:nvCxnSpPr>
          <p:cNvPr id="23" name="连接箭头"/>
          <p:cNvCxnSpPr/>
          <p:nvPr/>
        </p:nvCxnSpPr>
        <p:spPr>
          <a:xfrm flipH="0" flipV="0">
            <a:off x="4869180" y="2705100"/>
            <a:ext cx="203200" cy="0"/>
          </a:xfrm>
          <a:prstGeom prst="line">
            <a:avLst/>
          </a:prstGeom>
          <a:ln w="21590">
            <a:solidFill>
              <a:srgbClr val="7030A0"/>
            </a:solidFill>
            <a:tailEnd type="triangle" w="sm" len="sm"/>
          </a:ln>
        </p:spPr>
      </p:cxnSp>
      <p:cxnSp>
        <p:nvCxnSpPr>
          <p:cNvPr id="24" name="连接箭头"/>
          <p:cNvCxnSpPr/>
          <p:nvPr/>
        </p:nvCxnSpPr>
        <p:spPr>
          <a:xfrm flipH="0" flipV="0">
            <a:off x="7119620" y="2705100"/>
            <a:ext cx="203200" cy="0"/>
          </a:xfrm>
          <a:prstGeom prst="line">
            <a:avLst/>
          </a:prstGeom>
          <a:ln w="21590">
            <a:solidFill>
              <a:srgbClr val="7030A0"/>
            </a:solidFill>
            <a:tailEnd type="triangle" w="sm" len="sm"/>
          </a:ln>
        </p:spPr>
      </p:cxnSp>
      <p:cxnSp>
        <p:nvCxnSpPr>
          <p:cNvPr id="25" name="连接箭头"/>
          <p:cNvCxnSpPr/>
          <p:nvPr/>
        </p:nvCxnSpPr>
        <p:spPr>
          <a:xfrm flipH="0" flipV="0">
            <a:off x="9370060" y="2705100"/>
            <a:ext cx="203200" cy="0"/>
          </a:xfrm>
          <a:prstGeom prst="line">
            <a:avLst/>
          </a:prstGeom>
          <a:ln w="21590">
            <a:solidFill>
              <a:srgbClr val="7030A0"/>
            </a:solidFill>
            <a:tailEnd type="triangle" w="sm" len="sm"/>
          </a:ln>
        </p:spPr>
      </p:cxnSp>
      <p:sp>
        <p:nvSpPr>
          <p:cNvPr id="26" name="链路卡片"/>
          <p:cNvSpPr txBox="1"/>
          <p:nvPr/>
        </p:nvSpPr>
        <p:spPr>
          <a:xfrm>
            <a:off x="609600" y="1943100"/>
            <a:ext cx="1971040" cy="1600200"/>
          </a:xfrm>
          <a:prstGeom prst="roundRect">
            <a:avLst/>
          </a:prstGeom>
          <a:solidFill>
            <a:srgbClr val="F6F0FA"/>
          </a:solidFill>
          <a:ln w="9525">
            <a:solidFill>
              <a:srgbClr val="DDD3E5"/>
            </a:solidFill>
          </a:ln>
        </p:spPr>
      </p:sp>
      <p:sp>
        <p:nvSpPr>
          <p:cNvPr id="27" name="文本 请求与组批"/>
          <p:cNvSpPr txBox="1"/>
          <p:nvPr/>
        </p:nvSpPr>
        <p:spPr>
          <a:xfrm>
            <a:off x="698500" y="2108200"/>
            <a:ext cx="179324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请求与组批</a:t>
            </a:r>
            <a:endParaRPr lang="zh-CN" sz="1600"/>
          </a:p>
        </p:txBody>
      </p:sp>
      <p:sp>
        <p:nvSpPr>
          <p:cNvPr id="28" name="文本 LLMServingSim"/>
          <p:cNvSpPr txBox="1"/>
          <p:nvPr/>
        </p:nvSpPr>
        <p:spPr>
          <a:xfrm>
            <a:off x="685800" y="2501900"/>
            <a:ext cx="181864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20" b="1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LLMServingSim</a:t>
            </a:r>
            <a:endParaRPr lang="zh-CN" sz="1320"/>
          </a:p>
        </p:txBody>
      </p:sp>
      <p:sp>
        <p:nvSpPr>
          <p:cNvPr id="29" name="文本 模型 / batch / KV / 逐请求专家选择"/>
          <p:cNvSpPr txBox="1"/>
          <p:nvPr/>
        </p:nvSpPr>
        <p:spPr>
          <a:xfrm>
            <a:off x="685800" y="2959100"/>
            <a:ext cx="1818640" cy="495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模型 / batch / KV</a:t>
            </a:r>
            <a:endParaRPr lang="zh-CN" sz="1280"/>
          </a:p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逐请求专家选择</a:t>
            </a:r>
            <a:endParaRPr lang="zh-CN" sz="1280"/>
          </a:p>
        </p:txBody>
      </p:sp>
      <p:sp>
        <p:nvSpPr>
          <p:cNvPr id="30" name="链路卡片"/>
          <p:cNvSpPr txBox="1"/>
          <p:nvPr/>
        </p:nvSpPr>
        <p:spPr>
          <a:xfrm>
            <a:off x="2860040" y="1943100"/>
            <a:ext cx="1971040" cy="1600200"/>
          </a:xfrm>
          <a:prstGeom prst="roundRect">
            <a:avLst/>
          </a:prstGeom>
          <a:solidFill>
            <a:srgbClr val="F6F0FA"/>
          </a:solidFill>
          <a:ln w="9525">
            <a:solidFill>
              <a:srgbClr val="DDD3E5"/>
            </a:solidFill>
          </a:ln>
        </p:spPr>
      </p:sp>
      <p:sp>
        <p:nvSpPr>
          <p:cNvPr id="31" name="文本 任务与字节生成"/>
          <p:cNvSpPr txBox="1"/>
          <p:nvPr/>
        </p:nvSpPr>
        <p:spPr>
          <a:xfrm>
            <a:off x="2948940" y="2108200"/>
            <a:ext cx="179324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任务与字节生成</a:t>
            </a:r>
            <a:endParaRPr lang="zh-CN" sz="1600"/>
          </a:p>
        </p:txBody>
      </p:sp>
      <p:sp>
        <p:nvSpPr>
          <p:cNvPr id="32" name="文本 本项目生成器"/>
          <p:cNvSpPr txBox="1"/>
          <p:nvPr/>
        </p:nvSpPr>
        <p:spPr>
          <a:xfrm>
            <a:off x="2936240" y="2501900"/>
            <a:ext cx="181864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20" b="1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本项目生成器</a:t>
            </a:r>
            <a:endParaRPr lang="zh-CN" sz="1320"/>
          </a:p>
        </p:txBody>
      </p:sp>
      <p:sp>
        <p:nvSpPr>
          <p:cNvPr id="33" name="文本 逐层路由＋专家放置 / COMP / SEND / RECV"/>
          <p:cNvSpPr txBox="1"/>
          <p:nvPr/>
        </p:nvSpPr>
        <p:spPr>
          <a:xfrm>
            <a:off x="2936240" y="2959100"/>
            <a:ext cx="1818640" cy="495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逐层路由＋专家放置</a:t>
            </a:r>
            <a:endParaRPr lang="zh-CN" sz="1280"/>
          </a:p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COMP / SEND / RECV</a:t>
            </a:r>
            <a:endParaRPr lang="zh-CN" sz="1280"/>
          </a:p>
        </p:txBody>
      </p:sp>
      <p:sp>
        <p:nvSpPr>
          <p:cNvPr id="34" name="链路卡片"/>
          <p:cNvSpPr txBox="1"/>
          <p:nvPr/>
        </p:nvSpPr>
        <p:spPr>
          <a:xfrm>
            <a:off x="5110480" y="1943100"/>
            <a:ext cx="1971040" cy="1600200"/>
          </a:xfrm>
          <a:prstGeom prst="roundRect">
            <a:avLst/>
          </a:prstGeom>
          <a:solidFill>
            <a:srgbClr val="F6F0FA"/>
          </a:solidFill>
          <a:ln w="9525">
            <a:solidFill>
              <a:srgbClr val="DDD3E5"/>
            </a:solidFill>
          </a:ln>
        </p:spPr>
      </p:sp>
      <p:sp>
        <p:nvSpPr>
          <p:cNvPr id="35" name="文本 依赖执行"/>
          <p:cNvSpPr txBox="1"/>
          <p:nvPr/>
        </p:nvSpPr>
        <p:spPr>
          <a:xfrm>
            <a:off x="5199380" y="2108200"/>
            <a:ext cx="179324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依赖执行</a:t>
            </a:r>
            <a:endParaRPr lang="zh-CN" sz="1600"/>
          </a:p>
        </p:txBody>
      </p:sp>
      <p:sp>
        <p:nvSpPr>
          <p:cNvPr id="36" name="文本 Chakra → ASTRA"/>
          <p:cNvSpPr txBox="1"/>
          <p:nvPr/>
        </p:nvSpPr>
        <p:spPr>
          <a:xfrm>
            <a:off x="5186680" y="2501900"/>
            <a:ext cx="181864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20" b="1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Chakra → ASTRA</a:t>
            </a:r>
            <a:endParaRPr lang="zh-CN" sz="1320"/>
          </a:p>
        </p:txBody>
      </p:sp>
      <p:sp>
        <p:nvSpPr>
          <p:cNvPr id="37" name="文本 计算与通信任务图 / 前驱满足才发起"/>
          <p:cNvSpPr txBox="1"/>
          <p:nvPr/>
        </p:nvSpPr>
        <p:spPr>
          <a:xfrm>
            <a:off x="5186680" y="2959100"/>
            <a:ext cx="1818640" cy="495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计算与通信任务图</a:t>
            </a:r>
            <a:endParaRPr lang="zh-CN" sz="1280"/>
          </a:p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前驱满足才发起</a:t>
            </a:r>
            <a:endParaRPr lang="zh-CN" sz="1280"/>
          </a:p>
        </p:txBody>
      </p:sp>
      <p:sp>
        <p:nvSpPr>
          <p:cNvPr id="38" name="链路卡片"/>
          <p:cNvSpPr txBox="1"/>
          <p:nvPr/>
        </p:nvSpPr>
        <p:spPr>
          <a:xfrm>
            <a:off x="7360920" y="1943100"/>
            <a:ext cx="1971040" cy="1600200"/>
          </a:xfrm>
          <a:prstGeom prst="roundRect">
            <a:avLst/>
          </a:prstGeom>
          <a:solidFill>
            <a:srgbClr val="F6F0FA"/>
          </a:solidFill>
          <a:ln w="9525">
            <a:solidFill>
              <a:srgbClr val="DDD3E5"/>
            </a:solidFill>
          </a:ln>
        </p:spPr>
      </p:sp>
      <p:sp>
        <p:nvSpPr>
          <p:cNvPr id="39" name="文本 网络仿真"/>
          <p:cNvSpPr txBox="1"/>
          <p:nvPr/>
        </p:nvSpPr>
        <p:spPr>
          <a:xfrm>
            <a:off x="7449820" y="2108200"/>
            <a:ext cx="179324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网络仿真</a:t>
            </a:r>
            <a:endParaRPr lang="zh-CN" sz="1600"/>
          </a:p>
        </p:txBody>
      </p:sp>
      <p:sp>
        <p:nvSpPr>
          <p:cNvPr id="40" name="文本 两条独立后端"/>
          <p:cNvSpPr txBox="1"/>
          <p:nvPr/>
        </p:nvSpPr>
        <p:spPr>
          <a:xfrm>
            <a:off x="7437120" y="2501900"/>
            <a:ext cx="181864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20" b="1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两条独立后端</a:t>
            </a:r>
            <a:endParaRPr lang="zh-CN" sz="1320"/>
          </a:p>
        </p:txBody>
      </p:sp>
      <p:sp>
        <p:nvSpPr>
          <p:cNvPr id="41" name="文本 Scale-Up：ns-3-UB / Scale-Out：RDMA ns-3"/>
          <p:cNvSpPr txBox="1"/>
          <p:nvPr/>
        </p:nvSpPr>
        <p:spPr>
          <a:xfrm>
            <a:off x="7437120" y="2959100"/>
            <a:ext cx="1818640" cy="495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Scale-Up：ns-3-UB</a:t>
            </a:r>
            <a:endParaRPr lang="zh-CN" sz="1280"/>
          </a:p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Scale-Out：RDMA ns-3</a:t>
            </a:r>
            <a:endParaRPr lang="zh-CN" sz="1280"/>
          </a:p>
        </p:txBody>
      </p:sp>
      <p:sp>
        <p:nvSpPr>
          <p:cNvPr id="42" name="链路卡片"/>
          <p:cNvSpPr txBox="1"/>
          <p:nvPr/>
        </p:nvSpPr>
        <p:spPr>
          <a:xfrm>
            <a:off x="9611360" y="1943100"/>
            <a:ext cx="1971040" cy="1600200"/>
          </a:xfrm>
          <a:prstGeom prst="roundRect">
            <a:avLst/>
          </a:prstGeom>
          <a:solidFill>
            <a:srgbClr val="F6F0FA"/>
          </a:solidFill>
          <a:ln w="9525">
            <a:solidFill>
              <a:srgbClr val="DDD3E5"/>
            </a:solidFill>
          </a:ln>
        </p:spPr>
      </p:sp>
      <p:sp>
        <p:nvSpPr>
          <p:cNvPr id="43" name="文本 完成与服务推进"/>
          <p:cNvSpPr txBox="1"/>
          <p:nvPr/>
        </p:nvSpPr>
        <p:spPr>
          <a:xfrm>
            <a:off x="9700260" y="2108200"/>
            <a:ext cx="179324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完成与服务推进</a:t>
            </a:r>
            <a:endParaRPr lang="zh-CN" sz="1600"/>
          </a:p>
        </p:txBody>
      </p:sp>
      <p:sp>
        <p:nvSpPr>
          <p:cNvPr id="44" name="文本 实际完成回调"/>
          <p:cNvSpPr txBox="1"/>
          <p:nvPr/>
        </p:nvSpPr>
        <p:spPr>
          <a:xfrm>
            <a:off x="9687560" y="2501900"/>
            <a:ext cx="181864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20" b="1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实际完成回调</a:t>
            </a:r>
            <a:endParaRPr lang="zh-CN" sz="1320"/>
          </a:p>
        </p:txBody>
      </p:sp>
      <p:sp>
        <p:nvSpPr>
          <p:cNvPr id="45" name="文本 数据就绪→后继计算 / 整轮完成→下轮组批"/>
          <p:cNvSpPr txBox="1"/>
          <p:nvPr/>
        </p:nvSpPr>
        <p:spPr>
          <a:xfrm>
            <a:off x="9687560" y="2959100"/>
            <a:ext cx="1818640" cy="495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数据就绪→后继计算</a:t>
            </a:r>
            <a:endParaRPr lang="zh-CN" sz="1280"/>
          </a:p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整轮完成→下轮组批</a:t>
            </a:r>
            <a:endParaRPr lang="zh-CN" sz="1280"/>
          </a:p>
        </p:txBody>
      </p:sp>
      <p:cxnSp>
        <p:nvCxnSpPr>
          <p:cNvPr id="46" name="连接线"/>
          <p:cNvCxnSpPr/>
          <p:nvPr/>
        </p:nvCxnSpPr>
        <p:spPr>
          <a:xfrm flipH="0" flipV="0">
            <a:off x="10596880" y="3543300"/>
            <a:ext cx="0" cy="241300"/>
          </a:xfrm>
          <a:prstGeom prst="line">
            <a:avLst/>
          </a:prstGeom>
          <a:ln w="21590">
            <a:solidFill>
              <a:srgbClr val="7030A0"/>
            </a:solidFill>
          </a:ln>
        </p:spPr>
      </p:cxnSp>
      <p:cxnSp>
        <p:nvCxnSpPr>
          <p:cNvPr id="47" name="连接箭头"/>
          <p:cNvCxnSpPr/>
          <p:nvPr/>
        </p:nvCxnSpPr>
        <p:spPr>
          <a:xfrm flipH="1" flipV="0">
            <a:off x="1595120" y="3784600"/>
            <a:ext cx="9001760" cy="0"/>
          </a:xfrm>
          <a:prstGeom prst="line">
            <a:avLst/>
          </a:prstGeom>
          <a:ln w="21590">
            <a:solidFill>
              <a:srgbClr val="7030A0"/>
            </a:solidFill>
            <a:tailEnd type="triangle" w="sm" len="sm"/>
          </a:ln>
        </p:spPr>
      </p:cxnSp>
      <p:cxnSp>
        <p:nvCxnSpPr>
          <p:cNvPr id="48" name="连接箭头"/>
          <p:cNvCxnSpPr/>
          <p:nvPr/>
        </p:nvCxnSpPr>
        <p:spPr>
          <a:xfrm flipH="0" flipV="1">
            <a:off x="1595120" y="3543300"/>
            <a:ext cx="0" cy="241300"/>
          </a:xfrm>
          <a:prstGeom prst="line">
            <a:avLst/>
          </a:prstGeom>
          <a:ln w="21590">
            <a:solidFill>
              <a:srgbClr val="7030A0"/>
            </a:solidFill>
            <a:tailEnd type="triangle" w="sm" len="sm"/>
          </a:ln>
        </p:spPr>
      </p:cxnSp>
      <p:sp>
        <p:nvSpPr>
          <p:cNvPr id="49" name="文本 两条后端分别执行；各自的完成事件反馈下一轮推理进度"/>
          <p:cNvSpPr txBox="1"/>
          <p:nvPr/>
        </p:nvSpPr>
        <p:spPr>
          <a:xfrm>
            <a:off x="977900" y="3937000"/>
            <a:ext cx="10236200" cy="330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两条后端分别执行；各自的完成事件反馈下一轮推理进度</a:t>
            </a:r>
            <a:endParaRPr lang="zh-CN" sz="1600"/>
          </a:p>
        </p:txBody>
      </p:sp>
      <p:sp>
        <p:nvSpPr>
          <p:cNvPr id="50" name="文本 已有验证"/>
          <p:cNvSpPr txBox="1"/>
          <p:nvPr/>
        </p:nvSpPr>
        <p:spPr>
          <a:xfrm>
            <a:off x="609600" y="4533900"/>
            <a:ext cx="5334000" cy="317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已有验证</a:t>
            </a:r>
            <a:endParaRPr lang="zh-CN" sz="1800"/>
          </a:p>
        </p:txBody>
      </p:sp>
      <p:sp>
        <p:nvSpPr>
          <p:cNvPr id="51" name="文本 关注的网络结果"/>
          <p:cNvSpPr txBox="1"/>
          <p:nvPr/>
        </p:nvSpPr>
        <p:spPr>
          <a:xfrm>
            <a:off x="6362700" y="4533900"/>
            <a:ext cx="5219700" cy="317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关注的网络结果</a:t>
            </a:r>
            <a:endParaRPr lang="zh-CN" sz="1800"/>
          </a:p>
        </p:txBody>
      </p:sp>
      <p:sp>
        <p:nvSpPr>
          <p:cNvPr id="52" name="文本 Scale-Up：128卡真实路由完整首轮 / Scale-Out：4卡R1片段；128/256/512卡"/>
          <p:cNvSpPr txBox="1"/>
          <p:nvPr/>
        </p:nvSpPr>
        <p:spPr>
          <a:xfrm>
            <a:off x="609600" y="4965700"/>
            <a:ext cx="5511800" cy="635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2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Scale-Up：128卡真实路由完整首轮</a:t>
            </a:r>
            <a:endParaRPr lang="zh-CN" sz="1520"/>
          </a:p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2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Scale-Out：4卡R1片段；128/256/512卡</a:t>
            </a:r>
            <a:endParaRPr lang="zh-CN" sz="1520"/>
          </a:p>
        </p:txBody>
      </p:sp>
      <p:sp>
        <p:nvSpPr>
          <p:cNvPr id="53" name="文本 机内：端侧发送、UB信用与出口队列 / 跨机：NIC/Clos/rail与Decode等待"/>
          <p:cNvSpPr txBox="1"/>
          <p:nvPr/>
        </p:nvSpPr>
        <p:spPr>
          <a:xfrm>
            <a:off x="6362700" y="4965700"/>
            <a:ext cx="5219700" cy="635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2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机内：端侧发送、UB信用与出口队列</a:t>
            </a:r>
            <a:endParaRPr lang="zh-CN" sz="1520"/>
          </a:p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2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跨机：NIC/Clos/rail与Decode等待</a:t>
            </a:r>
            <a:endParaRPr lang="zh-CN" sz="1520"/>
          </a:p>
        </p:txBody>
      </p:sp>
      <p:sp>
        <p:nvSpPr>
          <p:cNvPr id="54" name="文本 范围：两后端隔离，计算仍需校准；Scale-Out千卡两次超时，尚未验收。"/>
          <p:cNvSpPr txBox="1"/>
          <p:nvPr/>
        </p:nvSpPr>
        <p:spPr>
          <a:xfrm>
            <a:off x="609600" y="5892800"/>
            <a:ext cx="10972800" cy="368300"/>
          </a:xfrm>
          <a:prstGeom prst="rect">
            <a:avLst/>
          </a:prstGeom>
          <a:solidFill>
            <a:srgbClr val="F6F0FA"/>
          </a:solidFill>
          <a:ln w="9525">
            <a:noFill/>
          </a:ln>
        </p:spPr>
        <p:txBody>
          <a:bodyPr wrap="square" anchor="t" lIns="63500" rIns="63500" tIns="63500" bIns="63500">
            <a:no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30" b="0">
                <a:solidFill>
                  <a:srgbClr val="64606C"/>
                </a:solidFill>
                <a:latin typeface="WenQuanYi Micro Hei"/>
                <a:ea typeface="WenQuanYi Micro Hei"/>
                <a:cs typeface="WenQuanYi Micro Hei"/>
              </a:rPr>
              <a:t>范围：两后端隔离，计算仍需校准；Scale-Out千卡两次超时，尚未验收。</a:t>
            </a:r>
            <a:endParaRPr lang="zh-CN" sz="1330"/>
          </a:p>
        </p:txBody>
      </p:sp>
    </p:spTree>
    <p:extLst>
      <p:ext uri="{BB962C8B-B14F-4D97-AF65-F5344CB8AC3E}">
        <ns3:creationId val="483041922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ns2:creationId id="{DB82B55B-9D6B-3AD4-7630-6E9460D6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>
            <a:noAutofit/>
          </a:bodyPr>
          <a:lstStyle/>
          <a:p>
            <a:pPr algn="l">
              <a:lnSpc>
                <a:spcPts val="3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1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拟增加细节：机内与跨机网络机制</a:t>
            </a:r>
            <a:endParaRPr lang="zh-CN" sz="3100"/>
          </a:p>
        </p:txBody>
      </p:sp>
      <p:sp>
        <p:nvSpPr>
          <p:cNvPr id="4" name="灯片编号占位符 3">
            <a:extLst>
              <a:ext uri="{FF2B5EF4-FFF2-40B4-BE49-F238E27FC236}">
                <ns2:creationId id="{73F159F8-F287-D3AA-A9D1-F1A0D62C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 lIns="0" rIns="0" tIns="0" bIns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>
                <a:solidFill>
                  <a:srgbClr val="96929B"/>
                </a:solidFill>
                <a:latin typeface="WenQuanYi Micro Hei"/>
                <a:ea typeface="WenQuanYi Micro Hei"/>
                <a:cs typeface="WenQuanYi Micro Hei"/>
              </a:rPr>
              <a:t>3</a:t>
            </a:r>
            <a:endParaRPr lang="zh-CN" sz="1000"/>
          </a:p>
        </p:txBody>
      </p:sp>
      <p:sp>
        <p:nvSpPr>
          <p:cNvPr id="20" name="文本 2026.10.20  |  MoE推理 · Scale-Up / Scale-Out网络"/>
          <p:cNvSpPr txBox="1"/>
          <p:nvPr/>
        </p:nvSpPr>
        <p:spPr>
          <a:xfrm>
            <a:off x="609600" y="6527800"/>
            <a:ext cx="8763000" cy="190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>
                <a:solidFill>
                  <a:srgbClr val="64606C"/>
                </a:solidFill>
                <a:latin typeface="WenQuanYi Micro Hei"/>
                <a:ea typeface="WenQuanYi Micro Hei"/>
                <a:cs typeface="WenQuanYi Micro Hei"/>
              </a:rPr>
              <a:t>2026.10.20  |  MoE推理 · Scale-Up / Scale-Out网络</a:t>
            </a:r>
            <a:endParaRPr lang="zh-CN" sz="950"/>
          </a:p>
        </p:txBody>
      </p:sp>
      <p:sp>
        <p:nvSpPr>
          <p:cNvPr id="21" name="文本 Scale-Up与Scale-Out共同关注：先证明关键等待，再选择优化机制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1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Scale-Up与Scale-Out共同关注：先证明关键等待，再选择优化机制</a:t>
            </a:r>
            <a:endParaRPr lang="zh-CN" sz="1900"/>
          </a:p>
        </p:txBody>
      </p:sp>
      <p:sp>
        <p:nvSpPr>
          <p:cNvPr id="22" name="文本 拟补细节"/>
          <p:cNvSpPr txBox="1"/>
          <p:nvPr/>
        </p:nvSpPr>
        <p:spPr>
          <a:xfrm>
            <a:off x="609600" y="1803400"/>
            <a:ext cx="2197100" cy="406400"/>
          </a:xfrm>
          <a:prstGeom prst="rect">
            <a:avLst/>
          </a:prstGeom>
          <a:solidFill>
            <a:srgbClr val="7030A0"/>
          </a:solidFill>
          <a:ln w="9525">
            <a:noFill/>
          </a:ln>
        </p:spPr>
        <p:txBody>
          <a:bodyPr wrap="square" anchor="t" lIns="76200" rIns="76200" tIns="76200" bIns="7620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拟补细节</a:t>
            </a:r>
            <a:endParaRPr lang="zh-CN" sz="1600"/>
          </a:p>
        </p:txBody>
      </p:sp>
      <p:sp>
        <p:nvSpPr>
          <p:cNvPr id="23" name="文本 在现有基础上增加什么"/>
          <p:cNvSpPr txBox="1"/>
          <p:nvPr/>
        </p:nvSpPr>
        <p:spPr>
          <a:xfrm>
            <a:off x="2806700" y="1803400"/>
            <a:ext cx="5575300" cy="406400"/>
          </a:xfrm>
          <a:prstGeom prst="rect">
            <a:avLst/>
          </a:prstGeom>
          <a:solidFill>
            <a:srgbClr val="7030A0"/>
          </a:solidFill>
          <a:ln w="9525">
            <a:noFill/>
          </a:ln>
        </p:spPr>
        <p:txBody>
          <a:bodyPr wrap="square" anchor="t" lIns="76200" rIns="76200" tIns="76200" bIns="7620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在现有基础上增加什么</a:t>
            </a:r>
            <a:endParaRPr lang="zh-CN" sz="1600"/>
          </a:p>
        </p:txBody>
      </p:sp>
      <p:sp>
        <p:nvSpPr>
          <p:cNvPr id="24" name="文本 要回答的问题"/>
          <p:cNvSpPr txBox="1"/>
          <p:nvPr/>
        </p:nvSpPr>
        <p:spPr>
          <a:xfrm>
            <a:off x="8382000" y="1803400"/>
            <a:ext cx="3200400" cy="406400"/>
          </a:xfrm>
          <a:prstGeom prst="rect">
            <a:avLst/>
          </a:prstGeom>
          <a:solidFill>
            <a:srgbClr val="7030A0"/>
          </a:solidFill>
          <a:ln w="9525">
            <a:noFill/>
          </a:ln>
        </p:spPr>
        <p:txBody>
          <a:bodyPr wrap="square" anchor="t" lIns="76200" rIns="76200" tIns="76200" bIns="7620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要回答的问题</a:t>
            </a:r>
            <a:endParaRPr lang="zh-CN" sz="1600"/>
          </a:p>
        </p:txBody>
      </p:sp>
      <p:sp>
        <p:nvSpPr>
          <p:cNvPr id="25" name="表格底色"/>
          <p:cNvSpPr txBox="1"/>
          <p:nvPr/>
        </p:nvSpPr>
        <p:spPr>
          <a:xfrm>
            <a:off x="609600" y="2209800"/>
            <a:ext cx="2197100" cy="825500"/>
          </a:xfrm>
          <a:prstGeom prst="rect">
            <a:avLst/>
          </a:prstGeom>
          <a:solidFill>
            <a:srgbClr val="FAF7FC"/>
          </a:solidFill>
          <a:ln w="9525">
            <a:solidFill>
              <a:srgbClr val="DDD3E5"/>
            </a:solidFill>
          </a:ln>
        </p:spPr>
      </p:sp>
      <p:sp>
        <p:nvSpPr>
          <p:cNvPr id="26" name="表格底色"/>
          <p:cNvSpPr txBox="1"/>
          <p:nvPr/>
        </p:nvSpPr>
        <p:spPr>
          <a:xfrm>
            <a:off x="2806700" y="2209800"/>
            <a:ext cx="5575300" cy="825500"/>
          </a:xfrm>
          <a:prstGeom prst="rect">
            <a:avLst/>
          </a:prstGeom>
          <a:solidFill>
            <a:srgbClr val="FAF7FC"/>
          </a:solidFill>
          <a:ln w="9525">
            <a:solidFill>
              <a:srgbClr val="DDD3E5"/>
            </a:solidFill>
          </a:ln>
        </p:spPr>
      </p:sp>
      <p:sp>
        <p:nvSpPr>
          <p:cNvPr id="27" name="表格底色"/>
          <p:cNvSpPr txBox="1"/>
          <p:nvPr/>
        </p:nvSpPr>
        <p:spPr>
          <a:xfrm>
            <a:off x="8382000" y="2209800"/>
            <a:ext cx="3200400" cy="825500"/>
          </a:xfrm>
          <a:prstGeom prst="rect">
            <a:avLst/>
          </a:prstGeom>
          <a:solidFill>
            <a:srgbClr val="FAF7FC"/>
          </a:solidFill>
          <a:ln w="9525">
            <a:solidFill>
              <a:srgbClr val="DDD3E5"/>
            </a:solidFill>
          </a:ln>
        </p:spPr>
      </p:sp>
      <p:sp>
        <p:nvSpPr>
          <p:cNvPr id="28" name="文本 01  专家流量与通信"/>
          <p:cNvSpPr txBox="1"/>
          <p:nvPr/>
        </p:nvSpPr>
        <p:spPr>
          <a:xfrm>
            <a:off x="711200" y="2463800"/>
            <a:ext cx="19939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01  专家流量与通信</a:t>
            </a:r>
            <a:endParaRPr lang="zh-CN" sz="1420"/>
          </a:p>
        </p:txBody>
      </p:sp>
      <p:sp>
        <p:nvSpPr>
          <p:cNvPr id="29" name="文本 UB：核查STORE/LOAD及响应拆分；RDMA：保留热点时序， / 研究机内汇聚—跨机—机内分发，计入转发成本。"/>
          <p:cNvSpPr txBox="1"/>
          <p:nvPr/>
        </p:nvSpPr>
        <p:spPr>
          <a:xfrm>
            <a:off x="2933700" y="2374900"/>
            <a:ext cx="53213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UB：核查STORE/LOAD及响应拆分；RDMA：保留热点时序，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研究机内汇聚—跨机—机内分发，计入转发成本。</a:t>
            </a:r>
            <a:endParaRPr lang="zh-CN" sz="1370"/>
          </a:p>
        </p:txBody>
      </p:sp>
      <p:sp>
        <p:nvSpPr>
          <p:cNvPr id="30" name="文本 热点在哪层形成等待？ / 通信组织何时有效？"/>
          <p:cNvSpPr txBox="1"/>
          <p:nvPr/>
        </p:nvSpPr>
        <p:spPr>
          <a:xfrm>
            <a:off x="8509000" y="2374900"/>
            <a:ext cx="29464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热点在哪层形成等待？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通信组织何时有效？</a:t>
            </a:r>
            <a:endParaRPr lang="zh-CN" sz="1370"/>
          </a:p>
        </p:txBody>
      </p:sp>
      <p:sp>
        <p:nvSpPr>
          <p:cNvPr id="31" name="表格底色"/>
          <p:cNvSpPr txBox="1"/>
          <p:nvPr/>
        </p:nvSpPr>
        <p:spPr>
          <a:xfrm>
            <a:off x="609600" y="3035300"/>
            <a:ext cx="21971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E5"/>
            </a:solidFill>
          </a:ln>
        </p:spPr>
      </p:sp>
      <p:sp>
        <p:nvSpPr>
          <p:cNvPr id="32" name="表格底色"/>
          <p:cNvSpPr txBox="1"/>
          <p:nvPr/>
        </p:nvSpPr>
        <p:spPr>
          <a:xfrm>
            <a:off x="2806700" y="3035300"/>
            <a:ext cx="55753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E5"/>
            </a:solidFill>
          </a:ln>
        </p:spPr>
      </p:sp>
      <p:sp>
        <p:nvSpPr>
          <p:cNvPr id="33" name="表格底色"/>
          <p:cNvSpPr txBox="1"/>
          <p:nvPr/>
        </p:nvSpPr>
        <p:spPr>
          <a:xfrm>
            <a:off x="8382000" y="3035300"/>
            <a:ext cx="32004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E5"/>
            </a:solidFill>
          </a:ln>
        </p:spPr>
      </p:sp>
      <p:sp>
        <p:nvSpPr>
          <p:cNvPr id="34" name="文本 02  连接与分层容量"/>
          <p:cNvSpPr txBox="1"/>
          <p:nvPr/>
        </p:nvSpPr>
        <p:spPr>
          <a:xfrm>
            <a:off x="711200" y="3289300"/>
            <a:ext cx="19939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02  连接与分层容量</a:t>
            </a:r>
            <a:endParaRPr lang="zh-CN" sz="1420"/>
          </a:p>
        </p:txBody>
      </p:sp>
      <p:sp>
        <p:nvSpPr>
          <p:cNvPr id="35" name="文本 机内：端口、发送槽、信用；跨机：已有Clos/rail， / 补共享NIC、GPU亲和及跨rail中继。"/>
          <p:cNvSpPr txBox="1"/>
          <p:nvPr/>
        </p:nvSpPr>
        <p:spPr>
          <a:xfrm>
            <a:off x="2933700" y="3200400"/>
            <a:ext cx="53213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机内：端口、发送槽、信用；跨机：已有Clos/rail，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补共享NIC、GPU亲和及跨rail中继。</a:t>
            </a:r>
            <a:endParaRPr lang="zh-CN" sz="1370"/>
          </a:p>
        </p:txBody>
      </p:sp>
      <p:sp>
        <p:nvSpPr>
          <p:cNvPr id="36" name="文本 瓶颈在哪个共享出口？ / 等资源分流何时有效？"/>
          <p:cNvSpPr txBox="1"/>
          <p:nvPr/>
        </p:nvSpPr>
        <p:spPr>
          <a:xfrm>
            <a:off x="8509000" y="3200400"/>
            <a:ext cx="29464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瓶颈在哪个共享出口？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等资源分流何时有效？</a:t>
            </a:r>
            <a:endParaRPr lang="zh-CN" sz="1370"/>
          </a:p>
        </p:txBody>
      </p:sp>
      <p:sp>
        <p:nvSpPr>
          <p:cNvPr id="37" name="表格底色"/>
          <p:cNvSpPr txBox="1"/>
          <p:nvPr/>
        </p:nvSpPr>
        <p:spPr>
          <a:xfrm>
            <a:off x="609600" y="3860800"/>
            <a:ext cx="2197100" cy="825500"/>
          </a:xfrm>
          <a:prstGeom prst="rect">
            <a:avLst/>
          </a:prstGeom>
          <a:solidFill>
            <a:srgbClr val="FAF7FC"/>
          </a:solidFill>
          <a:ln w="9525">
            <a:solidFill>
              <a:srgbClr val="DDD3E5"/>
            </a:solidFill>
          </a:ln>
        </p:spPr>
      </p:sp>
      <p:sp>
        <p:nvSpPr>
          <p:cNvPr id="38" name="表格底色"/>
          <p:cNvSpPr txBox="1"/>
          <p:nvPr/>
        </p:nvSpPr>
        <p:spPr>
          <a:xfrm>
            <a:off x="2806700" y="3860800"/>
            <a:ext cx="5575300" cy="825500"/>
          </a:xfrm>
          <a:prstGeom prst="rect">
            <a:avLst/>
          </a:prstGeom>
          <a:solidFill>
            <a:srgbClr val="FAF7FC"/>
          </a:solidFill>
          <a:ln w="9525">
            <a:solidFill>
              <a:srgbClr val="DDD3E5"/>
            </a:solidFill>
          </a:ln>
        </p:spPr>
      </p:sp>
      <p:sp>
        <p:nvSpPr>
          <p:cNvPr id="39" name="表格底色"/>
          <p:cNvSpPr txBox="1"/>
          <p:nvPr/>
        </p:nvSpPr>
        <p:spPr>
          <a:xfrm>
            <a:off x="8382000" y="3860800"/>
            <a:ext cx="3200400" cy="825500"/>
          </a:xfrm>
          <a:prstGeom prst="rect">
            <a:avLst/>
          </a:prstGeom>
          <a:solidFill>
            <a:srgbClr val="FAF7FC"/>
          </a:solidFill>
          <a:ln w="9525">
            <a:solidFill>
              <a:srgbClr val="DDD3E5"/>
            </a:solidFill>
          </a:ln>
        </p:spPr>
      </p:sp>
      <p:sp>
        <p:nvSpPr>
          <p:cNvPr id="40" name="文本 03  协议等待与归因"/>
          <p:cNvSpPr txBox="1"/>
          <p:nvPr/>
        </p:nvSpPr>
        <p:spPr>
          <a:xfrm>
            <a:off x="711200" y="4114800"/>
            <a:ext cx="19939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03  协议等待与归因</a:t>
            </a:r>
            <a:endParaRPr lang="zh-CN" sz="1420"/>
          </a:p>
        </p:txBody>
      </p:sp>
      <p:sp>
        <p:nvSpPr>
          <p:cNvPr id="41" name="文本 UB已有端侧/队列记录；RDMA已有回调与摘要， / 补有界时序，关联信用、ECN/PFC及关键前驱。"/>
          <p:cNvSpPr txBox="1"/>
          <p:nvPr/>
        </p:nvSpPr>
        <p:spPr>
          <a:xfrm>
            <a:off x="2933700" y="4025900"/>
            <a:ext cx="53213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UB已有端侧/队列记录；RDMA已有回调与摘要，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补有界时序，关联信用、ECN/PFC及关键前驱。</a:t>
            </a:r>
            <a:endParaRPr lang="zh-CN" sz="1370"/>
          </a:p>
        </p:txBody>
      </p:sp>
      <p:sp>
        <p:nvSpPr>
          <p:cNvPr id="42" name="文本 慢在发送、排队还是反馈？ / 哪段等待拖慢服务？"/>
          <p:cNvSpPr txBox="1"/>
          <p:nvPr/>
        </p:nvSpPr>
        <p:spPr>
          <a:xfrm>
            <a:off x="8509000" y="4025900"/>
            <a:ext cx="29464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慢在发送、排队还是反馈？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哪段等待拖慢服务？</a:t>
            </a:r>
            <a:endParaRPr lang="zh-CN" sz="1370"/>
          </a:p>
        </p:txBody>
      </p:sp>
      <p:sp>
        <p:nvSpPr>
          <p:cNvPr id="43" name="表格底色"/>
          <p:cNvSpPr txBox="1"/>
          <p:nvPr/>
        </p:nvSpPr>
        <p:spPr>
          <a:xfrm>
            <a:off x="609600" y="4686300"/>
            <a:ext cx="21971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E5"/>
            </a:solidFill>
          </a:ln>
        </p:spPr>
      </p:sp>
      <p:sp>
        <p:nvSpPr>
          <p:cNvPr id="44" name="表格底色"/>
          <p:cNvSpPr txBox="1"/>
          <p:nvPr/>
        </p:nvSpPr>
        <p:spPr>
          <a:xfrm>
            <a:off x="2806700" y="4686300"/>
            <a:ext cx="55753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E5"/>
            </a:solidFill>
          </a:ln>
        </p:spPr>
      </p:sp>
      <p:sp>
        <p:nvSpPr>
          <p:cNvPr id="45" name="表格底色"/>
          <p:cNvSpPr txBox="1"/>
          <p:nvPr/>
        </p:nvSpPr>
        <p:spPr>
          <a:xfrm>
            <a:off x="8382000" y="4686300"/>
            <a:ext cx="32004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E5"/>
            </a:solidFill>
          </a:ln>
        </p:spPr>
      </p:sp>
      <p:sp>
        <p:nvSpPr>
          <p:cNvPr id="46" name="文本 04  校准与规模效率"/>
          <p:cNvSpPr txBox="1"/>
          <p:nvPr/>
        </p:nvSpPr>
        <p:spPr>
          <a:xfrm>
            <a:off x="711200" y="4940300"/>
            <a:ext cx="19939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04  校准与规模效率</a:t>
            </a:r>
            <a:endParaRPr lang="zh-CN" sz="1420"/>
          </a:p>
        </p:txBody>
      </p:sp>
      <p:sp>
        <p:nvSpPr>
          <p:cNvPr id="47" name="文本 区分UB/RDMA硬件和软件条件，补形状匹配测量； / 拆分构图、执行和写出成本，再验收千卡。"/>
          <p:cNvSpPr txBox="1"/>
          <p:nvPr/>
        </p:nvSpPr>
        <p:spPr>
          <a:xfrm>
            <a:off x="2933700" y="4851400"/>
            <a:ext cx="53213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区分UB/RDMA硬件和软件条件，补形状匹配测量；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拆分构图、执行和写出成本，再验收千卡。</a:t>
            </a:r>
            <a:endParaRPr lang="zh-CN" sz="1370"/>
          </a:p>
        </p:txBody>
      </p:sp>
      <p:sp>
        <p:nvSpPr>
          <p:cNvPr id="48" name="文本 模型预测误差多大？ / 扩规模能否在预算内完成？"/>
          <p:cNvSpPr txBox="1"/>
          <p:nvPr/>
        </p:nvSpPr>
        <p:spPr>
          <a:xfrm>
            <a:off x="8509000" y="4851400"/>
            <a:ext cx="29464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模型预测误差多大？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扩规模能否在预算内完成？</a:t>
            </a:r>
            <a:endParaRPr lang="zh-CN" sz="1370"/>
          </a:p>
        </p:txBody>
      </p:sp>
      <p:sp>
        <p:nvSpPr>
          <p:cNvPr id="49" name="文本 验证路径：两后端各做真实 / 打乱 / 均匀路由＋等资源机制对照"/>
          <p:cNvSpPr txBox="1"/>
          <p:nvPr/>
        </p:nvSpPr>
        <p:spPr>
          <a:xfrm>
            <a:off x="609600" y="5765800"/>
            <a:ext cx="10972800" cy="355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验证路径：两后端各做真实 / 打乱 / 均匀路由＋等资源机制对照</a:t>
            </a:r>
            <a:endParaRPr lang="zh-CN" sz="1600"/>
          </a:p>
        </p:txBody>
      </p:sp>
      <p:sp>
        <p:nvSpPr>
          <p:cNvPr id="50" name="文本 先追踪机内/跨机关键等待，再做硬件校准与规模验证；拟增能力尚未实现。"/>
          <p:cNvSpPr txBox="1"/>
          <p:nvPr/>
        </p:nvSpPr>
        <p:spPr>
          <a:xfrm>
            <a:off x="609600" y="6172200"/>
            <a:ext cx="10972800" cy="279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70" b="0">
                <a:solidFill>
                  <a:srgbClr val="64606C"/>
                </a:solidFill>
                <a:latin typeface="WenQuanYi Micro Hei"/>
                <a:ea typeface="WenQuanYi Micro Hei"/>
                <a:cs typeface="WenQuanYi Micro Hei"/>
              </a:rPr>
              <a:t>先追踪机内/跨机关键等待，再做硬件校准与规模验证；拟增能力尚未实现。</a:t>
            </a:r>
            <a:endParaRPr lang="zh-CN" sz="1270"/>
          </a:p>
        </p:txBody>
      </p:sp>
    </p:spTree>
    <p:extLst>
      <p:ext uri="{BB962C8B-B14F-4D97-AF65-F5344CB8AC3E}">
        <ns3:creationId val="4830419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Y2YTQ3MGU3ZjZlZWVkZmNiNDZjMTM2NzkwOThiZmMifQ=="/>
</p:tagLst>
</file>

<file path=ppt/theme/theme1.xml><?xml version="1.0" encoding="utf-8"?>
<a:theme xmlns:a="http://schemas.openxmlformats.org/drawingml/2006/main" name="1_Office 主题">
  <a:themeElements>
    <a:clrScheme name="办公室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F24A1A"/>
      </a:accent1>
      <a:accent2>
        <a:srgbClr val="7BB900"/>
      </a:accent2>
      <a:accent3>
        <a:srgbClr val="009FEE"/>
      </a:accent3>
      <a:accent4>
        <a:srgbClr val="FFB700"/>
      </a:accent4>
      <a:accent5>
        <a:srgbClr val="9E7D2A"/>
      </a:accent5>
      <a:accent6>
        <a:srgbClr val="697279"/>
      </a:accent6>
      <a:hlink>
        <a:srgbClr val="4472C4"/>
      </a:hlink>
      <a:folHlink>
        <a:srgbClr val="BFBFBF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>
  <ns0:Application>Template-based research materials generator</ns0:Application>
  <ns0:PresentationFormat>宽屏</ns0:PresentationFormat>
  <ns0:Slides>3</ns0:Slides>
  <ns0:Notes>3</ns0:Notes>
  <ns0:HiddenSlides>0</ns0:HiddenSlides>
  <ns0:MMClips>0</ns0:MMClips>
  <ns0:ScaleCrop>false</ns0:ScaleCrop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李润宇：MoE推理Scale-Up与Scale-Out联合仿真</dc:title>
  <dc:subject>一页介绍与两页正文；当前链路与后续网络建模</dc:subject>
  <dcterms:created xsi:type="dcterms:W3CDTF">2026-10-20T00:00:00Z</dcterms:created>
  <dcterms:modified xsi:type="dcterms:W3CDTF">2026-10-20T00:00:00Z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734D3468DDC23DB25424C366D3E3F604_42</vt:lpwstr>
  </property>
  <property fmtid="{D5CDD505-2E9C-101B-9397-08002B2CF9AE}" pid="3" name="KSOProductBuildVer">
    <vt:lpwstr>2052-6.11.0.8885</vt:lpwstr>
  </property>
</Properties>
</file>